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1b1d764-e909-f1ca-36e5-9a3bc2ca2fe7}">
          <p14:sldIdLst>
            <p14:sldId id="256"/>
            <p14:sldId id="257"/>
            <p14:sldId id="258"/>
            <p14:sldId id="259"/>
          </p14:sldIdLst>
        </p14:section>
        <p14:section name="Cases" id="{a5458471-fb9f-feda-cf41-6c765dac3177}">
          <p14:sldIdLst>
            <p14:sldId id="260"/>
            <p14:sldId id="261"/>
            <p14:sldId id="262"/>
            <p14:sldId id="263"/>
            <p14:sldId id="264"/>
            <p14:sldId id="265"/>
          </p14:sldIdLst>
        </p14:section>
        <p14:section name="Analysis" id="{8366402b-aa9e-04d7-4d0c-b05cd6c411e4}">
          <p14:sldIdLst>
            <p14:sldId id="266"/>
            <p14:sldId id="267"/>
          </p14:sldIdLst>
        </p14:section>
        <p14:section name="Response" id="{760e2721-40d2-4183-fa38-debc4842c056}">
          <p14:sldIdLst>
            <p14:sldId id="268"/>
            <p14:sldId id="269"/>
            <p14:sldId id="270"/>
          </p14:sldIdLst>
        </p14:section>
        <p14:section name="Close" id="{d07b64aa-3621-aed2-0df5-ef92c9b141ff}">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6657F"/>
                </a:solidFill>
                <a:latin typeface="+mn-lt"/>
              </a:defRPr>
            </a:pPr>
            <a:r>
              <a:rPr sz="1400" b="0" i="0" u="none" strike="noStrike">
                <a:solidFill>
                  <a:srgbClr val="56657F"/>
                </a:solidFill>
                <a:latin typeface="+mn-lt"/>
              </a:rPr>
              <a:t>Glasswing open-source findings, 22 May 2026</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56657F"/>
            </a:solidFill>
            <a:effectLst/>
          </c:spPr>
          <c:invertIfNegative val="0"/>
          <c:dLbls>
            <c:numFmt formatCode="#,##0" sourceLinked="0"/>
            <c:txPr>
              <a:bodyPr/>
              <a:lstStyle/>
              <a:p>
                <a:pPr>
                  <a:defRPr b="0" i="0" strike="noStrike" sz="1400" u="none">
                    <a:solidFill>
                      <a:srgbClr val="141C28"/>
                    </a:solidFill>
                    <a:latin typeface="+mn-lt"/>
                  </a:defRPr>
                </a:pPr>
              </a:p>
            </c:txPr>
            <c:showLegendKey val="0"/>
            <c:showVal val="1"/>
            <c:showCatName val="0"/>
            <c:showSerName val="0"/>
            <c:showPercent val="0"/>
            <c:showBubbleSize val="0"/>
            <c:showLeaderLines val="0"/>
          </c:dLbls>
          <c:cat>
            <c:multiLvlStrRef>
              <c:f>Sheet1!$A$2:$A$6</c:f>
              <c:multiLvlStrCache>
                <c:ptCount val="5"/>
                <c:lvl>
                  <c:pt idx="0">
                    <c:v>Estimated high or critical</c:v>
                  </c:pt>
                  <c:pt idx="1">
                    <c:v>Assessed by reviewers</c:v>
                  </c:pt>
                  <c:pt idx="2">
                    <c:v>Confirmed high or critical</c:v>
                  </c:pt>
                  <c:pt idx="3">
                    <c:v>Disclosed to maintainers</c:v>
                  </c:pt>
                  <c:pt idx="4">
                    <c:v>Patched</c:v>
                  </c:pt>
                </c:lvl>
              </c:multiLvlStrCache>
            </c:multiLvlStrRef>
          </c:cat>
          <c:val>
            <c:numRef>
              <c:f>Sheet1!$B$2:$B$6</c:f>
              <c:numCache>
                <c:formatCode>General</c:formatCode>
                <c:ptCount val="5"/>
                <c:pt idx="0">
                  <c:v>6202</c:v>
                </c:pt>
                <c:pt idx="1">
                  <c:v>1752</c:v>
                </c:pt>
                <c:pt idx="2">
                  <c:v>1094</c:v>
                </c:pt>
                <c:pt idx="3">
                  <c:v>530</c:v>
                </c:pt>
                <c:pt idx="4">
                  <c:v>75</c:v>
                </c:pt>
              </c:numCache>
            </c:numRef>
          </c:val>
        </c:ser>
        <c:dLbls>
          <c:numFmt formatCode="#,##0" sourceLinked="0"/>
          <c:txPr>
            <a:bodyPr/>
            <a:lstStyle/>
            <a:p>
              <a:pPr>
                <a:defRPr b="0" i="0" strike="noStrike" sz="1400" u="none">
                  <a:solidFill>
                    <a:srgbClr val="141C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41C2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Confirmed</c:v>
                </c:pt>
              </c:strCache>
            </c:strRef>
          </c:tx>
          <c:spPr>
            <a:solidFill>
              <a:srgbClr val="16243A"/>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AI-orchestrated intrusions</c:v>
                  </c:pt>
                  <c:pt idx="1">
                    <c:v>Deepfake social engineering</c:v>
                  </c:pt>
                  <c:pt idx="2">
                    <c:v>AI-native malware</c:v>
                  </c:pt>
                  <c:pt idx="3">
                    <c:v>Prompt injection</c:v>
                  </c:pt>
                  <c:pt idx="4">
                    <c:v>AI supply chain</c:v>
                  </c:pt>
                  <c:pt idx="5">
                    <c:v>Machine-speed discovery</c:v>
                  </c:pt>
                </c:lvl>
              </c:multiLvlStrCache>
            </c:multiLvlStrRef>
          </c:cat>
          <c:val>
            <c:numRef>
              <c:f>Sheet1!$B$2:$B$7</c:f>
              <c:numCache>
                <c:formatCode>General</c:formatCode>
                <c:ptCount val="6"/>
                <c:pt idx="0">
                  <c:v>2</c:v>
                </c:pt>
                <c:pt idx="1">
                  <c:v>5</c:v>
                </c:pt>
                <c:pt idx="2">
                  <c:v>1</c:v>
                </c:pt>
                <c:pt idx="3">
                  <c:v>0</c:v>
                </c:pt>
                <c:pt idx="4">
                  <c:v>2</c:v>
                </c:pt>
                <c:pt idx="5">
                  <c:v>4</c:v>
                </c:pt>
              </c:numCache>
            </c:numRef>
          </c:val>
        </c:ser>
        <c:ser>
          <c:idx val="1"/>
          <c:order val="1"/>
          <c:tx>
            <c:strRef>
              <c:f>Sheet1!$C$1</c:f>
              <c:strCache>
                <c:ptCount val="1"/>
                <c:pt idx="0">
                  <c:v>Reported</c:v>
                </c:pt>
              </c:strCache>
            </c:strRef>
          </c:tx>
          <c:spPr>
            <a:solidFill>
              <a:srgbClr val="56657F"/>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AI-orchestrated intrusions</c:v>
                  </c:pt>
                  <c:pt idx="1">
                    <c:v>Deepfake social engineering</c:v>
                  </c:pt>
                  <c:pt idx="2">
                    <c:v>AI-native malware</c:v>
                  </c:pt>
                  <c:pt idx="3">
                    <c:v>Prompt injection</c:v>
                  </c:pt>
                  <c:pt idx="4">
                    <c:v>AI supply chain</c:v>
                  </c:pt>
                  <c:pt idx="5">
                    <c:v>Machine-speed discovery</c:v>
                  </c:pt>
                </c:lvl>
              </c:multiLvlStrCache>
            </c:multiLvlStrRef>
          </c:cat>
          <c:val>
            <c:numRef>
              <c:f>Sheet1!$C$2:$C$7</c:f>
              <c:numCache>
                <c:formatCode>General</c:formatCode>
                <c:ptCount val="6"/>
                <c:pt idx="0">
                  <c:v>2</c:v>
                </c:pt>
                <c:pt idx="1">
                  <c:v>0</c:v>
                </c:pt>
                <c:pt idx="2">
                  <c:v>4</c:v>
                </c:pt>
                <c:pt idx="3">
                  <c:v>2</c:v>
                </c:pt>
                <c:pt idx="4">
                  <c:v>4</c:v>
                </c:pt>
                <c:pt idx="5">
                  <c:v>2</c:v>
                </c:pt>
              </c:numCache>
            </c:numRef>
          </c:val>
        </c:ser>
        <c:ser>
          <c:idx val="2"/>
          <c:order val="2"/>
          <c:tx>
            <c:strRef>
              <c:f>Sheet1!$D$1</c:f>
              <c:strCache>
                <c:ptCount val="1"/>
                <c:pt idx="0">
                  <c:v>Demonstrated</c:v>
                </c:pt>
              </c:strCache>
            </c:strRef>
          </c:tx>
          <c:spPr>
            <a:solidFill>
              <a:srgbClr val="A9B6C9"/>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AI-orchestrated intrusions</c:v>
                  </c:pt>
                  <c:pt idx="1">
                    <c:v>Deepfake social engineering</c:v>
                  </c:pt>
                  <c:pt idx="2">
                    <c:v>AI-native malware</c:v>
                  </c:pt>
                  <c:pt idx="3">
                    <c:v>Prompt injection</c:v>
                  </c:pt>
                  <c:pt idx="4">
                    <c:v>AI supply chain</c:v>
                  </c:pt>
                  <c:pt idx="5">
                    <c:v>Machine-speed discovery</c:v>
                  </c:pt>
                </c:lvl>
              </c:multiLvlStrCache>
            </c:multiLvlStrRef>
          </c:cat>
          <c:val>
            <c:numRef>
              <c:f>Sheet1!$D$2:$D$7</c:f>
              <c:numCache>
                <c:formatCode>General</c:formatCode>
                <c:ptCount val="6"/>
                <c:pt idx="0">
                  <c:v>0</c:v>
                </c:pt>
                <c:pt idx="1">
                  <c:v>0</c:v>
                </c:pt>
                <c:pt idx="2">
                  <c:v>1</c:v>
                </c:pt>
                <c:pt idx="3">
                  <c:v>3</c:v>
                </c:pt>
                <c:pt idx="4">
                  <c:v>0</c:v>
                </c:pt>
                <c:pt idx="5">
                  <c:v>0</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41C2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41C2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case study of AI-related threat activity from January 2024 to October 2026, weighted to the last 15 months. Sources are primary: AI-provider threat reports, government advisories, and incident disclosures. Full study and sources: https://teamstarwolf.github.io/TeamStarWolf/#/case-studies/AI_THREATS_2026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AI has not created a new class of attack. It compressed time, broke trust signals, and handed attackers whatever privileges an agent holds. Sources: anthropic.com/news/disrupting-AI-espionage; sysdig.com/blog/jadepuffer-agentic-ransomware-for-automated-database-extortion; ic3.gov/AnnualReport/Reports/2025_IC3Report.pdf; anthropic.com/research/glasswing-initial-update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phases overlap: most attacker AI use is still assistant-grade. What changed is the ceiling. In February 2024 the top observed use was help with scripts; by July 2026 a model under test broke out of its sandbox with a zero-day.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class needs a different owner and control set. Evidence grades used throughout: Confirmed = attributed incident with technical detail from the victim, a government agency or the AI provider; Reported = one vendor's in-the-wild account; Demonstrated = research or a fixed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grades: GTG-1002 and the extortion spree are Confirmed (AI provider). JADEPUFFER and the GTIG pipeline are Reported (single vendor). Limits: GTG-1002's agent hallucinated credentials, and Google has not seen threat actors run end-to-end autonomous zero-day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FBI logged $893 million in AI-linked losses for 2025 and notes many victims never realize AI was involved. The July 2026 joint alert from the US and 10 allied governments says North Korean IT workers use AI to hide identities, with video feeds that look manipulated or artificially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these families depend on a hosted model, an API key and an outbound connection, which defenders can watch and providers can cut. PromptLock (an academic proof of concept) used a local open-weight model, removing that chokepoint.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case combines the three. Patches close individual exfiltration channels, not the class: Aim Labs called these flaws endemic to RAG-based agents. IBM put the average cost of a breach involving prompt injection at $5.89 million. OWASP maps prompt injection to six of the ten categories in its Agentic Top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new mechanics: living off the AI (s1ngularity carried no secret-hunting code), trust by install (skills and MCP servers run with the agent's rights), and toolchain-to-toolchain spread (a security scanner stole the token that poisoned an AI library). Models are now ransom targets too: Sysdig puts rebuilding one at $75,000 to $500,000.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bottleneck moved from finding flaws to verifying, disclosing and patching them. Maintainers asked Anthropic to slow its disclosures. For vulnerability management: replace CVSS-only SLAs with risk tiers (exposure, KEV, automatable, impact), split the queue between automated and tested rollout, and enrich beyond NVD.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 attributed incident with technical detail from the victim, a government agency or the AI provider. Reported = one vendor's account of in-the-wild activity. Demonstrated = a research proof of concept or a fixed bug with no known in-the-wild use. Note: machine-speed discovery's confirmed count includes two government actions (BOD 26-04, NIST NVD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 not invented a new class of attack. It compressed time, broke the trust signals people rely on, and handed attackers whatever privileges an agent holds, and it still lands mostly on old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principles for AI agents: least agency; separate instructions from data; gate the irreversible (payments, deletions, outbound messages, merges); log every tool call; isolate test environments from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gate is the condition for starting the next phase, because you cannot contain agents you have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controls once and reuse the mapping: NIST CSF 2.0 with the Cyber AI Profile for governance, OWASP for application and agent reviews, ATT&amp;CK with ATLAS for detection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questions from the case study. The written study has the full source list, every event's evidence grade, and the defensive playbook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680960" cy="411480"/>
          </a:xfrm>
          <a:prstGeom prst="rect">
            <a:avLst/>
          </a:prstGeom>
          <a:noFill/>
          <a:ln/>
        </p:spPr>
        <p:txBody>
          <a:bodyPr wrap="square" rtlCol="0"/>
          <a:lstStyle>
            <a:lvl1pPr indent="0" marL="0">
              <a:buNone/>
              <a:defRPr lang="en-US" sz="1400" b="1" spc="3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731520" y="1874520"/>
            <a:ext cx="768096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840480"/>
            <a:ext cx="7680960" cy="100584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5" name="Text 0"/>
          <p:cNvSpPr/>
          <p:nvPr/>
        </p:nvSpPr>
        <p:spPr>
          <a:xfrm>
            <a:off x="731520" y="5989320"/>
            <a:ext cx="5486400" cy="365760"/>
          </a:xfrm>
          <a:prstGeom prst="rect">
            <a:avLst/>
          </a:prstGeom>
          <a:noFill/>
          <a:ln/>
        </p:spPr>
        <p:txBody>
          <a:bodyPr wrap="square" lIns="0" tIns="0" rIns="0" bIns="0" rtlCol="0" anchor="ctr"/>
          <a:lstStyle/>
          <a:p>
            <a:pPr indent="0" marL="0">
              <a:buNone/>
            </a:pPr>
            <a:r>
              <a:rPr lang="en-US" sz="1200" dirty="0">
                <a:solidFill>
                  <a:schemeClr val="accent5"/>
                </a:solidFill>
              </a:rPr>
              <a:t>TeamStarWolf  ·  October 2026</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731520" y="6263640"/>
            <a:ext cx="5486400" cy="320040"/>
          </a:xfrm>
          <a:prstGeom prst="rect">
            <a:avLst/>
          </a:prstGeom>
          <a:noFill/>
          <a:ln/>
        </p:spPr>
        <p:txBody>
          <a:bodyPr wrap="square" lIns="0" tIns="0" rIns="0" bIns="0" rtlCol="0" anchor="ctr"/>
          <a:lstStyle/>
          <a:p>
            <a:pPr indent="0" marL="0">
              <a:buNone/>
            </a:pPr>
            <a:r>
              <a:rPr lang="en-US" sz="1000" dirty="0">
                <a:solidFill>
                  <a:schemeClr val="accent5"/>
                </a:solidFill>
              </a:rPr>
              <a:t>TeamStarWolf  ·  October 2026</a:t>
            </a:r>
            <a:endParaRPr lang="en-US" sz="1000" dirty="0"/>
          </a:p>
        </p:txBody>
      </p:sp>
      <p:sp>
        <p:nvSpPr>
          <p:cNvPr id="25" name="Slide Number Placeholder 0"/>
          <p:cNvSpPr>
            <a:spLocks noGrp="1"/>
          </p:cNvSpPr>
          <p:nvPr>
            <p:ph type="sldNum" sz="quarter" idx="4294967295"/>
          </p:nvPr>
        </p:nvSpPr>
        <p:spPr>
          <a:xfrm>
            <a:off x="1124712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6291072"/>
            <a:ext cx="10241280" cy="320040"/>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teamstarwolf.github.io/TeamStarWolf/#/case-studies/AI_THREATS_2026"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680960" cy="411480"/>
          </a:xfrm>
          <a:prstGeom prst="rect">
            <a:avLst/>
          </a:prstGeom>
          <a:noFill/>
          <a:ln/>
        </p:spPr>
        <p:txBody>
          <a:bodyPr wrap="square" lIns="0" tIns="0" rIns="0" bIns="0" rtlCol="0"/>
          <a:lstStyle/>
          <a:p>
            <a:pPr indent="0" marL="0">
              <a:buNone/>
            </a:pPr>
            <a:r>
              <a:rPr lang="en-US" sz="1400" b="1" spc="300" kern="0" dirty="0">
                <a:solidFill>
                  <a:schemeClr val="accent1"/>
                </a:solidFill>
              </a:rPr>
              <a:t>CASE STUDY</a:t>
            </a:r>
            <a:endParaRPr lang="en-US" sz="1400" dirty="0"/>
          </a:p>
        </p:txBody>
      </p:sp>
      <p:sp>
        <p:nvSpPr>
          <p:cNvPr id="3" name="Text 0"/>
          <p:cNvSpPr/>
          <p:nvPr>
            <p:ph idx="101" type="title" hasCustomPrompt="1"/>
          </p:nvPr>
        </p:nvSpPr>
        <p:spPr>
          <a:xfrm>
            <a:off x="731520" y="1874520"/>
            <a:ext cx="7680960" cy="1828800"/>
          </a:xfrm>
          <a:prstGeom prst="rect">
            <a:avLst/>
          </a:prstGeom>
          <a:noFill/>
          <a:ln/>
        </p:spPr>
        <p:txBody>
          <a:bodyPr wrap="square" lIns="0" tIns="0" rIns="0" bIns="0" rtlCol="0" anchor="t"/>
          <a:lstStyle/>
          <a:p>
            <a:pPr algn="l" indent="0" marL="0">
              <a:buNone/>
            </a:pPr>
            <a:r>
              <a:rPr lang="en-US" sz="4400" b="1" dirty="0">
                <a:solidFill>
                  <a:schemeClr val="bg1"/>
                </a:solidFill>
              </a:rPr>
              <a:t>AI Threats in the Cybersecurity Industry</a:t>
            </a:r>
            <a:endParaRPr lang="en-US" sz="4400" dirty="0"/>
          </a:p>
        </p:txBody>
      </p:sp>
      <p:sp>
        <p:nvSpPr>
          <p:cNvPr id="4" name="Text 0"/>
          <p:cNvSpPr/>
          <p:nvPr>
            <p:ph idx="102" type="body" hasCustomPrompt="1"/>
          </p:nvPr>
        </p:nvSpPr>
        <p:spPr>
          <a:xfrm>
            <a:off x="731520" y="3840480"/>
            <a:ext cx="7680960" cy="1005840"/>
          </a:xfrm>
          <a:prstGeom prst="rect">
            <a:avLst/>
          </a:prstGeom>
          <a:noFill/>
          <a:ln/>
        </p:spPr>
        <p:txBody>
          <a:bodyPr wrap="square" lIns="0" tIns="0" rIns="0" bIns="0" rtlCol="0" anchor="t"/>
          <a:lstStyle/>
          <a:p>
            <a:pPr indent="0" marL="0">
              <a:buNone/>
            </a:pPr>
            <a:r>
              <a:rPr lang="en-US" sz="2000" dirty="0">
                <a:solidFill>
                  <a:schemeClr val="accent5"/>
                </a:solidFill>
              </a:rPr>
              <a:t>Six threat classes from 2024 to 2026, each event graded by evidence</a:t>
            </a:r>
            <a:endParaRPr lang="en-US" sz="2000" dirty="0"/>
          </a:p>
        </p:txBody>
      </p:sp>
      <p:sp>
        <p:nvSpPr>
          <p:cNvPr id="5" name="title-robot-circle"/>
          <p:cNvSpPr/>
          <p:nvPr/>
        </p:nvSpPr>
        <p:spPr>
          <a:xfrm>
            <a:off x="9052560" y="1828800"/>
            <a:ext cx="2194560" cy="2194560"/>
          </a:xfrm>
          <a:prstGeom prst="ellipse">
            <a:avLst/>
          </a:prstGeom>
          <a:solidFill>
            <a:schemeClr val="accent1"/>
          </a:solidFill>
          <a:ln w="6350">
            <a:solidFill>
              <a:schemeClr val="accent1"/>
            </a:solidFill>
            <a:prstDash val="solid"/>
          </a:ln>
        </p:spPr>
      </p:sp>
      <p:pic>
        <p:nvPicPr>
          <p:cNvPr id="6" name="title-robot-icon" descr="preencoded.png">    </p:cNvPr>
          <p:cNvPicPr>
            <a:picLocks noChangeAspect="1"/>
          </p:cNvPicPr>
          <p:nvPr/>
        </p:nvPicPr>
        <p:blipFill>
          <a:blip r:embed="rId1"/>
          <a:stretch>
            <a:fillRect/>
          </a:stretch>
        </p:blipFill>
        <p:spPr>
          <a:xfrm>
            <a:off x="9579254" y="2355494"/>
            <a:ext cx="1141171" cy="1141171"/>
          </a:xfrm>
          <a:prstGeom prst="rect">
            <a:avLst/>
          </a:prstGeom>
        </p:spPr>
      </p:pic>
      <p:sp>
        <p:nvSpPr>
          <p:cNvPr id="7" name="title-shield-circle"/>
          <p:cNvSpPr/>
          <p:nvPr/>
        </p:nvSpPr>
        <p:spPr>
          <a:xfrm>
            <a:off x="10287000" y="3611880"/>
            <a:ext cx="1188720" cy="1188720"/>
          </a:xfrm>
          <a:prstGeom prst="ellipse">
            <a:avLst/>
          </a:prstGeom>
          <a:solidFill>
            <a:schemeClr val="accent2"/>
          </a:solidFill>
          <a:ln w="6350">
            <a:solidFill>
              <a:schemeClr val="accent2"/>
            </a:solidFill>
            <a:prstDash val="solid"/>
          </a:ln>
        </p:spPr>
      </p:sp>
      <p:pic>
        <p:nvPicPr>
          <p:cNvPr id="8" name="title-shield-icon" descr="preencoded.png">    </p:cNvPr>
          <p:cNvPicPr>
            <a:picLocks noChangeAspect="1"/>
          </p:cNvPicPr>
          <p:nvPr/>
        </p:nvPicPr>
        <p:blipFill>
          <a:blip r:embed="rId2"/>
          <a:stretch>
            <a:fillRect/>
          </a:stretch>
        </p:blipFill>
        <p:spPr>
          <a:xfrm>
            <a:off x="10572293" y="3897173"/>
            <a:ext cx="618134" cy="618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AI made old attacks faster, not new ones</a:t>
            </a:r>
            <a:endParaRPr lang="en-US" sz="3400" dirty="0"/>
          </a:p>
        </p:txBody>
      </p:sp>
      <p:sp>
        <p:nvSpPr>
          <p:cNvPr id="3" name="Text 1"/>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800" dirty="0">
                <a:solidFill>
                  <a:schemeClr val="tx1"/>
                </a:solidFill>
              </a:rPr>
              <a:t>Agents now run most of an intrusion while people approve a few decisions. The same agents are a new, privileged attack surface.</a:t>
            </a:r>
            <a:endParaRPr lang="en-US" sz="1800" dirty="0"/>
          </a:p>
        </p:txBody>
      </p:sp>
      <p:sp>
        <p:nvSpPr>
          <p:cNvPr id="4" name="stat-card-0"/>
          <p:cNvSpPr/>
          <p:nvPr/>
        </p:nvSpPr>
        <p:spPr>
          <a:xfrm>
            <a:off x="548640" y="2240280"/>
            <a:ext cx="2606040" cy="2606040"/>
          </a:xfrm>
          <a:prstGeom prst="roundRect">
            <a:avLst>
              <a:gd name="adj" fmla="val 4211"/>
            </a:avLst>
          </a:prstGeom>
          <a:solidFill>
            <a:schemeClr val="bg2"/>
          </a:solidFill>
          <a:ln w="9525">
            <a:solidFill>
              <a:schemeClr val="bg2"/>
            </a:solidFill>
            <a:prstDash val="solid"/>
          </a:ln>
        </p:spPr>
      </p:sp>
      <p:sp>
        <p:nvSpPr>
          <p:cNvPr id="5" name="stat-value"/>
          <p:cNvSpPr txBox="1"/>
          <p:nvPr/>
        </p:nvSpPr>
        <p:spPr>
          <a:xfrm>
            <a:off x="777240" y="2423160"/>
            <a:ext cx="2194560" cy="635000"/>
          </a:xfrm>
          <a:prstGeom prst="rect">
            <a:avLst/>
          </a:prstGeom>
          <a:noFill/>
          <a:ln/>
        </p:spPr>
        <p:txBody>
          <a:bodyPr wrap="square" lIns="0" tIns="0" rIns="0" bIns="0" rtlCol="0" anchor="b"/>
          <a:lstStyle/>
          <a:p>
            <a:pPr indent="0" marL="0">
              <a:buNone/>
            </a:pPr>
            <a:r>
              <a:rPr lang="en-US" sz="4000" b="1" dirty="0">
                <a:solidFill>
                  <a:schemeClr val="accent1"/>
                </a:solidFill>
                <a:latin typeface="+mj-lt" pitchFamily="34" charset="0"/>
                <a:ea typeface="+mj-lt" pitchFamily="34" charset="-122"/>
                <a:cs typeface="+mj-lt" pitchFamily="34" charset="-120"/>
              </a:rPr>
              <a:t>80-90%</a:t>
            </a:r>
            <a:endParaRPr lang="en-US" sz="4000" dirty="0"/>
          </a:p>
        </p:txBody>
      </p:sp>
      <p:sp>
        <p:nvSpPr>
          <p:cNvPr id="6" name="stat-label"/>
          <p:cNvSpPr txBox="1"/>
          <p:nvPr/>
        </p:nvSpPr>
        <p:spPr>
          <a:xfrm>
            <a:off x="777240" y="3131312"/>
            <a:ext cx="2194560" cy="1463040"/>
          </a:xfrm>
          <a:prstGeom prst="rect">
            <a:avLst/>
          </a:prstGeom>
          <a:noFill/>
          <a:ln/>
        </p:spPr>
        <p:txBody>
          <a:bodyPr wrap="square" lIns="0" tIns="0" rIns="0" bIns="0" rtlCol="0" anchor="t"/>
          <a:lstStyle/>
          <a:p>
            <a:pPr indent="0" marL="0">
              <a:buNone/>
            </a:pPr>
            <a:r>
              <a:rPr lang="en-US" sz="1400" dirty="0">
                <a:solidFill>
                  <a:schemeClr val="tx1"/>
                </a:solidFill>
              </a:rPr>
              <a:t>of tactical work done by Claude Code in a state espionage campaign (Anthropic, Nov 2025)</a:t>
            </a:r>
            <a:endParaRPr lang="en-US" sz="1400" dirty="0"/>
          </a:p>
        </p:txBody>
      </p:sp>
      <p:sp>
        <p:nvSpPr>
          <p:cNvPr id="7" name="stat-card-1"/>
          <p:cNvSpPr/>
          <p:nvPr/>
        </p:nvSpPr>
        <p:spPr>
          <a:xfrm>
            <a:off x="3383280" y="2240280"/>
            <a:ext cx="2606040" cy="2606040"/>
          </a:xfrm>
          <a:prstGeom prst="roundRect">
            <a:avLst>
              <a:gd name="adj" fmla="val 4211"/>
            </a:avLst>
          </a:prstGeom>
          <a:solidFill>
            <a:schemeClr val="bg2"/>
          </a:solidFill>
          <a:ln w="9525">
            <a:solidFill>
              <a:schemeClr val="bg2"/>
            </a:solidFill>
            <a:prstDash val="solid"/>
          </a:ln>
        </p:spPr>
      </p:sp>
      <p:sp>
        <p:nvSpPr>
          <p:cNvPr id="8" name="stat-value"/>
          <p:cNvSpPr txBox="1"/>
          <p:nvPr/>
        </p:nvSpPr>
        <p:spPr>
          <a:xfrm>
            <a:off x="3611880" y="2423160"/>
            <a:ext cx="2194560" cy="635000"/>
          </a:xfrm>
          <a:prstGeom prst="rect">
            <a:avLst/>
          </a:prstGeom>
          <a:noFill/>
          <a:ln/>
        </p:spPr>
        <p:txBody>
          <a:bodyPr wrap="square" lIns="0" tIns="0" rIns="0" bIns="0" rtlCol="0" anchor="b"/>
          <a:lstStyle/>
          <a:p>
            <a:pPr indent="0" marL="0">
              <a:buNone/>
            </a:pPr>
            <a:r>
              <a:rPr lang="en-US" sz="4000" b="1" dirty="0">
                <a:solidFill>
                  <a:schemeClr val="accent1"/>
                </a:solidFill>
                <a:latin typeface="+mj-lt" pitchFamily="34" charset="0"/>
                <a:ea typeface="+mj-lt" pitchFamily="34" charset="-122"/>
                <a:cs typeface="+mj-lt" pitchFamily="34" charset="-120"/>
              </a:rPr>
              <a:t>31 sec</a:t>
            </a:r>
            <a:endParaRPr lang="en-US" sz="4000" dirty="0"/>
          </a:p>
        </p:txBody>
      </p:sp>
      <p:sp>
        <p:nvSpPr>
          <p:cNvPr id="9" name="stat-label"/>
          <p:cNvSpPr txBox="1"/>
          <p:nvPr/>
        </p:nvSpPr>
        <p:spPr>
          <a:xfrm>
            <a:off x="3611880" y="3131312"/>
            <a:ext cx="2194560" cy="1463040"/>
          </a:xfrm>
          <a:prstGeom prst="rect">
            <a:avLst/>
          </a:prstGeom>
          <a:noFill/>
          <a:ln/>
        </p:spPr>
        <p:txBody>
          <a:bodyPr wrap="square" lIns="0" tIns="0" rIns="0" bIns="0" rtlCol="0" anchor="t"/>
          <a:lstStyle/>
          <a:p>
            <a:pPr indent="0" marL="0">
              <a:buNone/>
            </a:pPr>
            <a:r>
              <a:rPr lang="en-US" sz="1400" dirty="0">
                <a:solidFill>
                  <a:schemeClr val="tx1"/>
                </a:solidFill>
              </a:rPr>
              <a:t>for an AI agent to fix a failed login and retry during a ransomware attack (Sysdig, Jul 2026)</a:t>
            </a:r>
            <a:endParaRPr lang="en-US" sz="1400" dirty="0"/>
          </a:p>
        </p:txBody>
      </p:sp>
      <p:sp>
        <p:nvSpPr>
          <p:cNvPr id="10" name="stat-card-2"/>
          <p:cNvSpPr/>
          <p:nvPr/>
        </p:nvSpPr>
        <p:spPr>
          <a:xfrm>
            <a:off x="6217920" y="2240280"/>
            <a:ext cx="2606040" cy="2606040"/>
          </a:xfrm>
          <a:prstGeom prst="roundRect">
            <a:avLst>
              <a:gd name="adj" fmla="val 4211"/>
            </a:avLst>
          </a:prstGeom>
          <a:solidFill>
            <a:schemeClr val="bg2"/>
          </a:solidFill>
          <a:ln w="9525">
            <a:solidFill>
              <a:schemeClr val="bg2"/>
            </a:solidFill>
            <a:prstDash val="solid"/>
          </a:ln>
        </p:spPr>
      </p:sp>
      <p:sp>
        <p:nvSpPr>
          <p:cNvPr id="11" name="stat-value"/>
          <p:cNvSpPr txBox="1"/>
          <p:nvPr/>
        </p:nvSpPr>
        <p:spPr>
          <a:xfrm>
            <a:off x="6446520" y="2423160"/>
            <a:ext cx="2194560" cy="635000"/>
          </a:xfrm>
          <a:prstGeom prst="rect">
            <a:avLst/>
          </a:prstGeom>
          <a:noFill/>
          <a:ln/>
        </p:spPr>
        <p:txBody>
          <a:bodyPr wrap="square" lIns="0" tIns="0" rIns="0" bIns="0" rtlCol="0" anchor="b"/>
          <a:lstStyle/>
          <a:p>
            <a:pPr indent="0" marL="0">
              <a:buNone/>
            </a:pPr>
            <a:r>
              <a:rPr lang="en-US" sz="4000" b="1" dirty="0">
                <a:solidFill>
                  <a:schemeClr val="accent3"/>
                </a:solidFill>
                <a:latin typeface="+mj-lt" pitchFamily="34" charset="0"/>
                <a:ea typeface="+mj-lt" pitchFamily="34" charset="-122"/>
                <a:cs typeface="+mj-lt" pitchFamily="34" charset="-120"/>
              </a:rPr>
              <a:t>$893M</a:t>
            </a:r>
            <a:endParaRPr lang="en-US" sz="4000" dirty="0"/>
          </a:p>
        </p:txBody>
      </p:sp>
      <p:sp>
        <p:nvSpPr>
          <p:cNvPr id="12" name="stat-label"/>
          <p:cNvSpPr txBox="1"/>
          <p:nvPr/>
        </p:nvSpPr>
        <p:spPr>
          <a:xfrm>
            <a:off x="6446520" y="3131312"/>
            <a:ext cx="2194560" cy="1463040"/>
          </a:xfrm>
          <a:prstGeom prst="rect">
            <a:avLst/>
          </a:prstGeom>
          <a:noFill/>
          <a:ln/>
        </p:spPr>
        <p:txBody>
          <a:bodyPr wrap="square" lIns="0" tIns="0" rIns="0" bIns="0" rtlCol="0" anchor="t"/>
          <a:lstStyle/>
          <a:p>
            <a:pPr indent="0" marL="0">
              <a:buNone/>
            </a:pPr>
            <a:r>
              <a:rPr lang="en-US" sz="1400" dirty="0">
                <a:solidFill>
                  <a:schemeClr val="tx1"/>
                </a:solidFill>
              </a:rPr>
              <a:t>AI-linked losses reported to the FBI for 2025, a floor rather than a total</a:t>
            </a:r>
            <a:endParaRPr lang="en-US" sz="1400" dirty="0"/>
          </a:p>
        </p:txBody>
      </p:sp>
      <p:sp>
        <p:nvSpPr>
          <p:cNvPr id="13" name="stat-card-3"/>
          <p:cNvSpPr/>
          <p:nvPr/>
        </p:nvSpPr>
        <p:spPr>
          <a:xfrm>
            <a:off x="9052560" y="2240280"/>
            <a:ext cx="2606040" cy="2606040"/>
          </a:xfrm>
          <a:prstGeom prst="roundRect">
            <a:avLst>
              <a:gd name="adj" fmla="val 4211"/>
            </a:avLst>
          </a:prstGeom>
          <a:solidFill>
            <a:schemeClr val="bg2"/>
          </a:solidFill>
          <a:ln w="9525">
            <a:solidFill>
              <a:schemeClr val="bg2"/>
            </a:solidFill>
            <a:prstDash val="solid"/>
          </a:ln>
        </p:spPr>
      </p:sp>
      <p:sp>
        <p:nvSpPr>
          <p:cNvPr id="14" name="stat-value"/>
          <p:cNvSpPr txBox="1"/>
          <p:nvPr/>
        </p:nvSpPr>
        <p:spPr>
          <a:xfrm>
            <a:off x="9281160" y="2423160"/>
            <a:ext cx="2194560" cy="635000"/>
          </a:xfrm>
          <a:prstGeom prst="rect">
            <a:avLst/>
          </a:prstGeom>
          <a:noFill/>
          <a:ln/>
        </p:spPr>
        <p:txBody>
          <a:bodyPr wrap="square" lIns="0" tIns="0" rIns="0" bIns="0" rtlCol="0" anchor="b"/>
          <a:lstStyle/>
          <a:p>
            <a:pPr indent="0" marL="0">
              <a:buNone/>
            </a:pPr>
            <a:r>
              <a:rPr lang="en-US" sz="4000" b="1" dirty="0">
                <a:solidFill>
                  <a:schemeClr val="accent2"/>
                </a:solidFill>
                <a:latin typeface="+mj-lt" pitchFamily="34" charset="0"/>
                <a:ea typeface="+mj-lt" pitchFamily="34" charset="-122"/>
                <a:cs typeface="+mj-lt" pitchFamily="34" charset="-120"/>
              </a:rPr>
              <a:t>10,000+</a:t>
            </a:r>
            <a:endParaRPr lang="en-US" sz="4000" dirty="0"/>
          </a:p>
        </p:txBody>
      </p:sp>
      <p:sp>
        <p:nvSpPr>
          <p:cNvPr id="15" name="stat-label"/>
          <p:cNvSpPr txBox="1"/>
          <p:nvPr/>
        </p:nvSpPr>
        <p:spPr>
          <a:xfrm>
            <a:off x="9281160" y="3131312"/>
            <a:ext cx="2194560" cy="1463040"/>
          </a:xfrm>
          <a:prstGeom prst="rect">
            <a:avLst/>
          </a:prstGeom>
          <a:noFill/>
          <a:ln/>
        </p:spPr>
        <p:txBody>
          <a:bodyPr wrap="square" lIns="0" tIns="0" rIns="0" bIns="0" rtlCol="0" anchor="t"/>
          <a:lstStyle/>
          <a:p>
            <a:pPr indent="0" marL="0">
              <a:buNone/>
            </a:pPr>
            <a:r>
              <a:rPr lang="en-US" sz="1400" dirty="0">
                <a:solidFill>
                  <a:schemeClr val="tx1"/>
                </a:solidFill>
              </a:rPr>
              <a:t>high or critical flaws found by frontier models in about six weeks (Anthropic, May 2026)</a:t>
            </a:r>
            <a:endParaRPr lang="en-US" sz="1400" dirty="0"/>
          </a:p>
        </p:txBody>
      </p:sp>
      <p:sp>
        <p:nvSpPr>
          <p:cNvPr id="16" name="takeaway"/>
          <p:cNvSpPr/>
          <p:nvPr/>
        </p:nvSpPr>
        <p:spPr>
          <a:xfrm>
            <a:off x="548640" y="5120640"/>
            <a:ext cx="11064240" cy="868680"/>
          </a:xfrm>
          <a:prstGeom prst="roundRect">
            <a:avLst>
              <a:gd name="adj" fmla="val 12632"/>
            </a:avLst>
          </a:prstGeom>
          <a:solidFill>
            <a:schemeClr val="tx2"/>
          </a:solidFill>
          <a:ln w="9525">
            <a:solidFill>
              <a:schemeClr val="tx2"/>
            </a:solidFill>
            <a:prstDash val="solid"/>
          </a:ln>
        </p:spPr>
      </p:sp>
      <p:sp>
        <p:nvSpPr>
          <p:cNvPr id="17" name="Text 15"/>
          <p:cNvSpPr txBox="1"/>
          <p:nvPr/>
        </p:nvSpPr>
        <p:spPr>
          <a:xfrm>
            <a:off x="822960" y="5138928"/>
            <a:ext cx="10515600" cy="822960"/>
          </a:xfrm>
          <a:prstGeom prst="rect">
            <a:avLst/>
          </a:prstGeom>
          <a:noFill/>
          <a:ln/>
        </p:spPr>
        <p:txBody>
          <a:bodyPr wrap="square" lIns="0" tIns="0" rIns="0" bIns="0" rtlCol="0" anchor="ctr"/>
          <a:lstStyle/>
          <a:p>
            <a:pPr indent="0" marL="0">
              <a:buNone/>
            </a:pPr>
            <a:r>
              <a:rPr lang="en-US" sz="1700" b="1" dirty="0">
                <a:solidFill>
                  <a:schemeClr val="bg1"/>
                </a:solidFill>
              </a:rPr>
              <a:t>What changed is autonomy. What did not: the weaknesses attackers exploit and the controls that stop them.</a:t>
            </a:r>
            <a:endParaRPr lang="en-US" sz="1700" dirty="0"/>
          </a:p>
        </p:txBody>
      </p:sp>
      <p:sp>
        <p:nvSpPr>
          <p:cNvPr id="18"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Anthropic (Nov 2025, May 2026); Sysdig (Jul 2026); FBI IC3 2025 Internet Crime Report</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Three phases shrank the human's share</a:t>
            </a:r>
            <a:endParaRPr lang="en-US" sz="3400" dirty="0"/>
          </a:p>
        </p:txBody>
      </p:sp>
      <p:sp>
        <p:nvSpPr>
          <p:cNvPr id="3" name="phase-Assistant"/>
          <p:cNvSpPr/>
          <p:nvPr/>
        </p:nvSpPr>
        <p:spPr>
          <a:xfrm>
            <a:off x="548640" y="1463040"/>
            <a:ext cx="3383280" cy="4023360"/>
          </a:xfrm>
          <a:prstGeom prst="roundRect">
            <a:avLst>
              <a:gd name="adj" fmla="val 3243"/>
            </a:avLst>
          </a:prstGeom>
          <a:solidFill>
            <a:schemeClr val="bg2"/>
          </a:solidFill>
          <a:ln w="9525">
            <a:solidFill>
              <a:schemeClr val="bg2"/>
            </a:solidFill>
            <a:prstDash val="solid"/>
          </a:ln>
        </p:spPr>
      </p:sp>
      <p:sp>
        <p:nvSpPr>
          <p:cNvPr id="4" name="phase-icon-0-circle"/>
          <p:cNvSpPr/>
          <p:nvPr/>
        </p:nvSpPr>
        <p:spPr>
          <a:xfrm>
            <a:off x="822960" y="1737360"/>
            <a:ext cx="731520" cy="731520"/>
          </a:xfrm>
          <a:prstGeom prst="ellipse">
            <a:avLst/>
          </a:prstGeom>
          <a:solidFill>
            <a:schemeClr val="accent4"/>
          </a:solidFill>
          <a:ln w="6350">
            <a:solidFill>
              <a:schemeClr val="accent4"/>
            </a:solidFill>
            <a:prstDash val="solid"/>
          </a:ln>
        </p:spPr>
      </p:sp>
      <p:pic>
        <p:nvPicPr>
          <p:cNvPr id="5" name="phase-icon-0-icon" descr="preencoded.png">    </p:cNvPr>
          <p:cNvPicPr>
            <a:picLocks noChangeAspect="1"/>
          </p:cNvPicPr>
          <p:nvPr/>
        </p:nvPicPr>
        <p:blipFill>
          <a:blip r:embed="rId1"/>
          <a:stretch>
            <a:fillRect/>
          </a:stretch>
        </p:blipFill>
        <p:spPr>
          <a:xfrm>
            <a:off x="998525" y="1912925"/>
            <a:ext cx="380390" cy="380390"/>
          </a:xfrm>
          <a:prstGeom prst="rect">
            <a:avLst/>
          </a:prstGeom>
        </p:spPr>
      </p:pic>
      <p:sp>
        <p:nvSpPr>
          <p:cNvPr id="6" name="Text 3"/>
          <p:cNvSpPr txBox="1"/>
          <p:nvPr/>
        </p:nvSpPr>
        <p:spPr>
          <a:xfrm>
            <a:off x="1737360" y="1755648"/>
            <a:ext cx="201168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Assistant</a:t>
            </a:r>
            <a:endParaRPr lang="en-US" sz="2200" dirty="0"/>
          </a:p>
        </p:txBody>
      </p:sp>
      <p:sp>
        <p:nvSpPr>
          <p:cNvPr id="7" name="Text 4"/>
          <p:cNvSpPr txBox="1"/>
          <p:nvPr/>
        </p:nvSpPr>
        <p:spPr>
          <a:xfrm>
            <a:off x="1737360" y="2176272"/>
            <a:ext cx="2011680" cy="320040"/>
          </a:xfrm>
          <a:prstGeom prst="rect">
            <a:avLst/>
          </a:prstGeom>
          <a:noFill/>
          <a:ln/>
        </p:spPr>
        <p:txBody>
          <a:bodyPr wrap="square" lIns="0" tIns="0" rIns="0" bIns="0" rtlCol="0" anchor="t"/>
          <a:lstStyle/>
          <a:p>
            <a:pPr indent="0" marL="0">
              <a:buNone/>
            </a:pPr>
            <a:r>
              <a:rPr lang="en-US" sz="1400" dirty="0">
                <a:solidFill>
                  <a:schemeClr val="accent4"/>
                </a:solidFill>
              </a:rPr>
              <a:t>2023 to 2024</a:t>
            </a:r>
            <a:endParaRPr lang="en-US" sz="1400" dirty="0"/>
          </a:p>
        </p:txBody>
      </p:sp>
      <p:sp>
        <p:nvSpPr>
          <p:cNvPr id="8" name="Text 5"/>
          <p:cNvSpPr txBox="1"/>
          <p:nvPr/>
        </p:nvSpPr>
        <p:spPr>
          <a:xfrm>
            <a:off x="822960" y="2743200"/>
            <a:ext cx="2834640" cy="1280160"/>
          </a:xfrm>
          <a:prstGeom prst="rect">
            <a:avLst/>
          </a:prstGeom>
          <a:noFill/>
          <a:ln/>
        </p:spPr>
        <p:txBody>
          <a:bodyPr wrap="square" lIns="0" tIns="0" rIns="0" bIns="0" rtlCol="0" anchor="t"/>
          <a:lstStyle/>
          <a:p>
            <a:pPr indent="0" marL="0">
              <a:buNone/>
            </a:pPr>
            <a:r>
              <a:rPr lang="en-US" sz="1600" b="1" dirty="0">
                <a:solidFill>
                  <a:schemeClr val="tx1"/>
                </a:solidFill>
              </a:rPr>
              <a:t>AI drafts phishing, fixes scripts and translates. People run the attack.</a:t>
            </a:r>
            <a:endParaRPr lang="en-US" sz="1600" dirty="0"/>
          </a:p>
        </p:txBody>
      </p:sp>
      <p:sp>
        <p:nvSpPr>
          <p:cNvPr id="9" name="Text 6"/>
          <p:cNvSpPr txBox="1"/>
          <p:nvPr/>
        </p:nvSpPr>
        <p:spPr>
          <a:xfrm>
            <a:off x="822960" y="3886200"/>
            <a:ext cx="2834640" cy="1463040"/>
          </a:xfrm>
          <a:prstGeom prst="rect">
            <a:avLst/>
          </a:prstGeom>
          <a:noFill/>
          <a:ln/>
        </p:spPr>
        <p:txBody>
          <a:bodyPr wrap="square" lIns="0" tIns="0" rIns="0" bIns="0" rtlCol="0" anchor="t"/>
          <a:lstStyle/>
          <a:p>
            <a:pPr indent="0" marL="0">
              <a:buNone/>
            </a:pPr>
            <a:r>
              <a:rPr lang="en-US" sz="1400" dirty="0">
                <a:solidFill>
                  <a:schemeClr val="tx1"/>
                </a:solidFill>
              </a:rPr>
              <a:t>Microsoft and OpenAI saw five state actors use LLMs as a productivity tool, with no novel techniques.</a:t>
            </a:r>
            <a:endParaRPr lang="en-US" sz="1400" dirty="0"/>
          </a:p>
        </p:txBody>
      </p:sp>
      <p:sp>
        <p:nvSpPr>
          <p:cNvPr id="10" name="phase-arrow-0"/>
          <p:cNvSpPr/>
          <p:nvPr/>
        </p:nvSpPr>
        <p:spPr>
          <a:xfrm>
            <a:off x="4005072" y="3246120"/>
            <a:ext cx="310896" cy="457200"/>
          </a:xfrm>
          <a:prstGeom prst="rightArrow">
            <a:avLst/>
          </a:prstGeom>
          <a:solidFill>
            <a:schemeClr val="accent5"/>
          </a:solidFill>
          <a:ln w="12700">
            <a:solidFill>
              <a:schemeClr val="accent5"/>
            </a:solidFill>
            <a:prstDash val="solid"/>
          </a:ln>
        </p:spPr>
      </p:sp>
      <p:sp>
        <p:nvSpPr>
          <p:cNvPr id="11" name="phase-Component"/>
          <p:cNvSpPr/>
          <p:nvPr/>
        </p:nvSpPr>
        <p:spPr>
          <a:xfrm>
            <a:off x="4389120" y="1463040"/>
            <a:ext cx="3383280" cy="4023360"/>
          </a:xfrm>
          <a:prstGeom prst="roundRect">
            <a:avLst>
              <a:gd name="adj" fmla="val 3243"/>
            </a:avLst>
          </a:prstGeom>
          <a:solidFill>
            <a:schemeClr val="bg2"/>
          </a:solidFill>
          <a:ln w="9525">
            <a:solidFill>
              <a:schemeClr val="bg2"/>
            </a:solidFill>
            <a:prstDash val="solid"/>
          </a:ln>
        </p:spPr>
      </p:sp>
      <p:sp>
        <p:nvSpPr>
          <p:cNvPr id="12" name="phase-icon-1-circle"/>
          <p:cNvSpPr/>
          <p:nvPr/>
        </p:nvSpPr>
        <p:spPr>
          <a:xfrm>
            <a:off x="4663440" y="1737360"/>
            <a:ext cx="731520" cy="731520"/>
          </a:xfrm>
          <a:prstGeom prst="ellipse">
            <a:avLst/>
          </a:prstGeom>
          <a:solidFill>
            <a:schemeClr val="accent3"/>
          </a:solidFill>
          <a:ln w="6350">
            <a:solidFill>
              <a:schemeClr val="accent3"/>
            </a:solidFill>
            <a:prstDash val="solid"/>
          </a:ln>
        </p:spPr>
      </p:sp>
      <p:pic>
        <p:nvPicPr>
          <p:cNvPr id="13" name="phase-icon-1-icon" descr="preencoded.png">    </p:cNvPr>
          <p:cNvPicPr>
            <a:picLocks noChangeAspect="1"/>
          </p:cNvPicPr>
          <p:nvPr/>
        </p:nvPicPr>
        <p:blipFill>
          <a:blip r:embed="rId2"/>
          <a:stretch>
            <a:fillRect/>
          </a:stretch>
        </p:blipFill>
        <p:spPr>
          <a:xfrm>
            <a:off x="4839005" y="1912925"/>
            <a:ext cx="380390" cy="380390"/>
          </a:xfrm>
          <a:prstGeom prst="rect">
            <a:avLst/>
          </a:prstGeom>
        </p:spPr>
      </p:pic>
      <p:sp>
        <p:nvSpPr>
          <p:cNvPr id="14" name="Text 10"/>
          <p:cNvSpPr txBox="1"/>
          <p:nvPr/>
        </p:nvSpPr>
        <p:spPr>
          <a:xfrm>
            <a:off x="5577840" y="1755648"/>
            <a:ext cx="201168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Component</a:t>
            </a:r>
            <a:endParaRPr lang="en-US" sz="2200" dirty="0"/>
          </a:p>
        </p:txBody>
      </p:sp>
      <p:sp>
        <p:nvSpPr>
          <p:cNvPr id="15" name="Text 11"/>
          <p:cNvSpPr txBox="1"/>
          <p:nvPr/>
        </p:nvSpPr>
        <p:spPr>
          <a:xfrm>
            <a:off x="5577840" y="2176272"/>
            <a:ext cx="2011680" cy="320040"/>
          </a:xfrm>
          <a:prstGeom prst="rect">
            <a:avLst/>
          </a:prstGeom>
          <a:noFill/>
          <a:ln/>
        </p:spPr>
        <p:txBody>
          <a:bodyPr wrap="square" lIns="0" tIns="0" rIns="0" bIns="0" rtlCol="0" anchor="t"/>
          <a:lstStyle/>
          <a:p>
            <a:pPr indent="0" marL="0">
              <a:buNone/>
            </a:pPr>
            <a:r>
              <a:rPr lang="en-US" sz="1400" dirty="0">
                <a:solidFill>
                  <a:schemeClr val="accent4"/>
                </a:solidFill>
              </a:rPr>
              <a:t>2025</a:t>
            </a:r>
            <a:endParaRPr lang="en-US" sz="1400" dirty="0"/>
          </a:p>
        </p:txBody>
      </p:sp>
      <p:sp>
        <p:nvSpPr>
          <p:cNvPr id="16" name="Text 12"/>
          <p:cNvSpPr txBox="1"/>
          <p:nvPr/>
        </p:nvSpPr>
        <p:spPr>
          <a:xfrm>
            <a:off x="4663440" y="2743200"/>
            <a:ext cx="2834640" cy="1280160"/>
          </a:xfrm>
          <a:prstGeom prst="rect">
            <a:avLst/>
          </a:prstGeom>
          <a:noFill/>
          <a:ln/>
        </p:spPr>
        <p:txBody>
          <a:bodyPr wrap="square" lIns="0" tIns="0" rIns="0" bIns="0" rtlCol="0" anchor="t"/>
          <a:lstStyle/>
          <a:p>
            <a:pPr indent="0" marL="0">
              <a:buNone/>
            </a:pPr>
            <a:r>
              <a:rPr lang="en-US" sz="1600" b="1" dirty="0">
                <a:solidFill>
                  <a:schemeClr val="tx1"/>
                </a:solidFill>
              </a:rPr>
              <a:t>Malware calls models at runtime; agents get real tools through MCP.</a:t>
            </a:r>
            <a:endParaRPr lang="en-US" sz="1600" dirty="0"/>
          </a:p>
        </p:txBody>
      </p:sp>
      <p:sp>
        <p:nvSpPr>
          <p:cNvPr id="17" name="Text 13"/>
          <p:cNvSpPr txBox="1"/>
          <p:nvPr/>
        </p:nvSpPr>
        <p:spPr>
          <a:xfrm>
            <a:off x="4663440" y="3886200"/>
            <a:ext cx="2834640" cy="1463040"/>
          </a:xfrm>
          <a:prstGeom prst="rect">
            <a:avLst/>
          </a:prstGeom>
          <a:noFill/>
          <a:ln/>
        </p:spPr>
        <p:txBody>
          <a:bodyPr wrap="square" lIns="0" tIns="0" rIns="0" bIns="0" rtlCol="0" anchor="t"/>
          <a:lstStyle/>
          <a:p>
            <a:pPr indent="0" marL="0">
              <a:buNone/>
            </a:pPr>
            <a:r>
              <a:rPr lang="en-US" sz="1400" dirty="0">
                <a:solidFill>
                  <a:schemeClr val="tx1"/>
                </a:solidFill>
              </a:rPr>
              <a:t>LAMEHUG, EchoLeak, the s1ngularity package attack, and the first AI-run extortion spree.</a:t>
            </a:r>
            <a:endParaRPr lang="en-US" sz="1400" dirty="0"/>
          </a:p>
        </p:txBody>
      </p:sp>
      <p:sp>
        <p:nvSpPr>
          <p:cNvPr id="18" name="phase-arrow-1"/>
          <p:cNvSpPr/>
          <p:nvPr/>
        </p:nvSpPr>
        <p:spPr>
          <a:xfrm>
            <a:off x="7845552" y="3246120"/>
            <a:ext cx="310896" cy="457200"/>
          </a:xfrm>
          <a:prstGeom prst="rightArrow">
            <a:avLst/>
          </a:prstGeom>
          <a:solidFill>
            <a:schemeClr val="accent5"/>
          </a:solidFill>
          <a:ln w="12700">
            <a:solidFill>
              <a:schemeClr val="accent5"/>
            </a:solidFill>
            <a:prstDash val="solid"/>
          </a:ln>
        </p:spPr>
      </p:sp>
      <p:sp>
        <p:nvSpPr>
          <p:cNvPr id="19" name="phase-Operator"/>
          <p:cNvSpPr/>
          <p:nvPr/>
        </p:nvSpPr>
        <p:spPr>
          <a:xfrm>
            <a:off x="8229600" y="1463040"/>
            <a:ext cx="3383280" cy="4023360"/>
          </a:xfrm>
          <a:prstGeom prst="roundRect">
            <a:avLst>
              <a:gd name="adj" fmla="val 3243"/>
            </a:avLst>
          </a:prstGeom>
          <a:solidFill>
            <a:schemeClr val="bg2"/>
          </a:solidFill>
          <a:ln w="9525">
            <a:solidFill>
              <a:schemeClr val="bg2"/>
            </a:solidFill>
            <a:prstDash val="solid"/>
          </a:ln>
        </p:spPr>
      </p:sp>
      <p:sp>
        <p:nvSpPr>
          <p:cNvPr id="20" name="phase-icon-2-circle"/>
          <p:cNvSpPr/>
          <p:nvPr/>
        </p:nvSpPr>
        <p:spPr>
          <a:xfrm>
            <a:off x="8503920" y="1737360"/>
            <a:ext cx="731520" cy="731520"/>
          </a:xfrm>
          <a:prstGeom prst="ellipse">
            <a:avLst/>
          </a:prstGeom>
          <a:solidFill>
            <a:schemeClr val="accent1"/>
          </a:solidFill>
          <a:ln w="6350">
            <a:solidFill>
              <a:schemeClr val="accent1"/>
            </a:solidFill>
            <a:prstDash val="solid"/>
          </a:ln>
        </p:spPr>
      </p:sp>
      <p:pic>
        <p:nvPicPr>
          <p:cNvPr id="21" name="phase-icon-2-icon" descr="preencoded.png">    </p:cNvPr>
          <p:cNvPicPr>
            <a:picLocks noChangeAspect="1"/>
          </p:cNvPicPr>
          <p:nvPr/>
        </p:nvPicPr>
        <p:blipFill>
          <a:blip r:embed="rId3"/>
          <a:stretch>
            <a:fillRect/>
          </a:stretch>
        </p:blipFill>
        <p:spPr>
          <a:xfrm>
            <a:off x="8679485" y="1912925"/>
            <a:ext cx="380390" cy="380390"/>
          </a:xfrm>
          <a:prstGeom prst="rect">
            <a:avLst/>
          </a:prstGeom>
        </p:spPr>
      </p:pic>
      <p:sp>
        <p:nvSpPr>
          <p:cNvPr id="22" name="Text 17"/>
          <p:cNvSpPr txBox="1"/>
          <p:nvPr/>
        </p:nvSpPr>
        <p:spPr>
          <a:xfrm>
            <a:off x="9418320" y="1755648"/>
            <a:ext cx="201168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Operator</a:t>
            </a:r>
            <a:endParaRPr lang="en-US" sz="2200" dirty="0"/>
          </a:p>
        </p:txBody>
      </p:sp>
      <p:sp>
        <p:nvSpPr>
          <p:cNvPr id="23" name="Text 18"/>
          <p:cNvSpPr txBox="1"/>
          <p:nvPr/>
        </p:nvSpPr>
        <p:spPr>
          <a:xfrm>
            <a:off x="9418320" y="2176272"/>
            <a:ext cx="2011680" cy="320040"/>
          </a:xfrm>
          <a:prstGeom prst="rect">
            <a:avLst/>
          </a:prstGeom>
          <a:noFill/>
          <a:ln/>
        </p:spPr>
        <p:txBody>
          <a:bodyPr wrap="square" lIns="0" tIns="0" rIns="0" bIns="0" rtlCol="0" anchor="t"/>
          <a:lstStyle/>
          <a:p>
            <a:pPr indent="0" marL="0">
              <a:buNone/>
            </a:pPr>
            <a:r>
              <a:rPr lang="en-US" sz="1400" dirty="0">
                <a:solidFill>
                  <a:schemeClr val="accent4"/>
                </a:solidFill>
              </a:rPr>
              <a:t>Late 2025 to now</a:t>
            </a:r>
            <a:endParaRPr lang="en-US" sz="1400" dirty="0"/>
          </a:p>
        </p:txBody>
      </p:sp>
      <p:sp>
        <p:nvSpPr>
          <p:cNvPr id="24" name="Text 19"/>
          <p:cNvSpPr txBox="1"/>
          <p:nvPr/>
        </p:nvSpPr>
        <p:spPr>
          <a:xfrm>
            <a:off x="8503920" y="2743200"/>
            <a:ext cx="2834640" cy="1280160"/>
          </a:xfrm>
          <a:prstGeom prst="rect">
            <a:avLst/>
          </a:prstGeom>
          <a:noFill/>
          <a:ln/>
        </p:spPr>
        <p:txBody>
          <a:bodyPr wrap="square" lIns="0" tIns="0" rIns="0" bIns="0" rtlCol="0" anchor="t"/>
          <a:lstStyle/>
          <a:p>
            <a:pPr indent="0" marL="0">
              <a:buNone/>
            </a:pPr>
            <a:r>
              <a:rPr lang="en-US" sz="1600" b="1" dirty="0">
                <a:solidFill>
                  <a:schemeClr val="tx1"/>
                </a:solidFill>
              </a:rPr>
              <a:t>Agents run most of an intrusion; frontier models find and exploit zero-days.</a:t>
            </a:r>
            <a:endParaRPr lang="en-US" sz="1600" dirty="0"/>
          </a:p>
        </p:txBody>
      </p:sp>
      <p:sp>
        <p:nvSpPr>
          <p:cNvPr id="25" name="Text 20"/>
          <p:cNvSpPr txBox="1"/>
          <p:nvPr/>
        </p:nvSpPr>
        <p:spPr>
          <a:xfrm>
            <a:off x="8503920" y="3886200"/>
            <a:ext cx="2834640" cy="1463040"/>
          </a:xfrm>
          <a:prstGeom prst="rect">
            <a:avLst/>
          </a:prstGeom>
          <a:noFill/>
          <a:ln/>
        </p:spPr>
        <p:txBody>
          <a:bodyPr wrap="square" lIns="0" tIns="0" rIns="0" bIns="0" rtlCol="0" anchor="t"/>
          <a:lstStyle/>
          <a:p>
            <a:pPr indent="0" marL="0">
              <a:buNone/>
            </a:pPr>
            <a:r>
              <a:rPr lang="en-US" sz="1400" dirty="0">
                <a:solidFill>
                  <a:schemeClr val="tx1"/>
                </a:solidFill>
              </a:rPr>
              <a:t>GTG-1002 espionage, JADEPUFFER ransomware, and OpenAI test agents breaching Hugging Face.</a:t>
            </a:r>
            <a:endParaRPr lang="en-US" sz="1400" dirty="0"/>
          </a:p>
        </p:txBody>
      </p:sp>
      <p:sp>
        <p:nvSpPr>
          <p:cNvPr id="26"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Microsoft Threat Intelligence and OpenAI (Feb 2024); case evidence in later slides</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Six threat classes in this study</a:t>
            </a:r>
            <a:endParaRPr lang="en-US" sz="3400" dirty="0"/>
          </a:p>
        </p:txBody>
      </p:sp>
      <p:sp>
        <p:nvSpPr>
          <p:cNvPr id="3" name="class-1"/>
          <p:cNvSpPr/>
          <p:nvPr/>
        </p:nvSpPr>
        <p:spPr>
          <a:xfrm>
            <a:off x="548640" y="1417320"/>
            <a:ext cx="3520440" cy="2148840"/>
          </a:xfrm>
          <a:prstGeom prst="roundRect">
            <a:avLst>
              <a:gd name="adj" fmla="val 5106"/>
            </a:avLst>
          </a:prstGeom>
          <a:solidFill>
            <a:schemeClr val="bg2"/>
          </a:solidFill>
          <a:ln w="9525">
            <a:solidFill>
              <a:schemeClr val="bg2"/>
            </a:solidFill>
            <a:prstDash val="solid"/>
          </a:ln>
        </p:spPr>
      </p:sp>
      <p:sp>
        <p:nvSpPr>
          <p:cNvPr id="4" name="class-icon-1-circle"/>
          <p:cNvSpPr/>
          <p:nvPr/>
        </p:nvSpPr>
        <p:spPr>
          <a:xfrm>
            <a:off x="777240" y="1645920"/>
            <a:ext cx="594360" cy="594360"/>
          </a:xfrm>
          <a:prstGeom prst="ellipse">
            <a:avLst/>
          </a:prstGeom>
          <a:solidFill>
            <a:schemeClr val="accent1"/>
          </a:solidFill>
          <a:ln w="6350">
            <a:solidFill>
              <a:schemeClr val="accent1"/>
            </a:solidFill>
            <a:prstDash val="solid"/>
          </a:ln>
        </p:spPr>
      </p:sp>
      <p:pic>
        <p:nvPicPr>
          <p:cNvPr id="5" name="class-icon-1-icon" descr="preencoded.png">    </p:cNvPr>
          <p:cNvPicPr>
            <a:picLocks noChangeAspect="1"/>
          </p:cNvPicPr>
          <p:nvPr/>
        </p:nvPicPr>
        <p:blipFill>
          <a:blip r:embed="rId1"/>
          <a:stretch>
            <a:fillRect/>
          </a:stretch>
        </p:blipFill>
        <p:spPr>
          <a:xfrm>
            <a:off x="919886" y="1788566"/>
            <a:ext cx="309067" cy="309067"/>
          </a:xfrm>
          <a:prstGeom prst="rect">
            <a:avLst/>
          </a:prstGeom>
        </p:spPr>
      </p:pic>
      <p:sp>
        <p:nvSpPr>
          <p:cNvPr id="6" name="Text 3"/>
          <p:cNvSpPr txBox="1"/>
          <p:nvPr/>
        </p:nvSpPr>
        <p:spPr>
          <a:xfrm>
            <a:off x="1508760" y="1673352"/>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1  AI-orchestrated intrusions</a:t>
            </a:r>
            <a:endParaRPr lang="en-US" sz="1600" dirty="0"/>
          </a:p>
        </p:txBody>
      </p:sp>
      <p:sp>
        <p:nvSpPr>
          <p:cNvPr id="7" name="Text 4"/>
          <p:cNvSpPr txBox="1"/>
          <p:nvPr/>
        </p:nvSpPr>
        <p:spPr>
          <a:xfrm>
            <a:off x="777240" y="2377440"/>
            <a:ext cx="3063240" cy="731520"/>
          </a:xfrm>
          <a:prstGeom prst="rect">
            <a:avLst/>
          </a:prstGeom>
          <a:noFill/>
          <a:ln/>
        </p:spPr>
        <p:txBody>
          <a:bodyPr wrap="square" lIns="0" tIns="0" rIns="0" bIns="0" rtlCol="0" anchor="t"/>
          <a:lstStyle/>
          <a:p>
            <a:pPr indent="0" marL="0">
              <a:buNone/>
            </a:pPr>
            <a:r>
              <a:rPr lang="en-US" sz="1400" dirty="0">
                <a:solidFill>
                  <a:schemeClr val="tx1"/>
                </a:solidFill>
              </a:rPr>
              <a:t>Agents run recon to exfiltration; people approve a few gates</a:t>
            </a:r>
            <a:endParaRPr lang="en-US" sz="1400" dirty="0"/>
          </a:p>
        </p:txBody>
      </p:sp>
      <p:sp>
        <p:nvSpPr>
          <p:cNvPr id="8" name="Text 5"/>
          <p:cNvSpPr txBox="1"/>
          <p:nvPr/>
        </p:nvSpPr>
        <p:spPr>
          <a:xfrm>
            <a:off x="777240" y="310896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AI as weapon</a:t>
            </a:r>
            <a:endParaRPr lang="en-US" sz="1200" dirty="0"/>
          </a:p>
        </p:txBody>
      </p:sp>
      <p:sp>
        <p:nvSpPr>
          <p:cNvPr id="9" name="class-2"/>
          <p:cNvSpPr/>
          <p:nvPr/>
        </p:nvSpPr>
        <p:spPr>
          <a:xfrm>
            <a:off x="4297680" y="1417320"/>
            <a:ext cx="3520440" cy="2148840"/>
          </a:xfrm>
          <a:prstGeom prst="roundRect">
            <a:avLst>
              <a:gd name="adj" fmla="val 5106"/>
            </a:avLst>
          </a:prstGeom>
          <a:solidFill>
            <a:schemeClr val="bg2"/>
          </a:solidFill>
          <a:ln w="9525">
            <a:solidFill>
              <a:schemeClr val="bg2"/>
            </a:solidFill>
            <a:prstDash val="solid"/>
          </a:ln>
        </p:spPr>
      </p:sp>
      <p:sp>
        <p:nvSpPr>
          <p:cNvPr id="10" name="class-icon-2-circle"/>
          <p:cNvSpPr/>
          <p:nvPr/>
        </p:nvSpPr>
        <p:spPr>
          <a:xfrm>
            <a:off x="4526280" y="1645920"/>
            <a:ext cx="594360" cy="594360"/>
          </a:xfrm>
          <a:prstGeom prst="ellipse">
            <a:avLst/>
          </a:prstGeom>
          <a:solidFill>
            <a:schemeClr val="accent1"/>
          </a:solidFill>
          <a:ln w="6350">
            <a:solidFill>
              <a:schemeClr val="accent1"/>
            </a:solidFill>
            <a:prstDash val="solid"/>
          </a:ln>
        </p:spPr>
      </p:sp>
      <p:pic>
        <p:nvPicPr>
          <p:cNvPr id="11" name="class-icon-2-icon" descr="preencoded.png">    </p:cNvPr>
          <p:cNvPicPr>
            <a:picLocks noChangeAspect="1"/>
          </p:cNvPicPr>
          <p:nvPr/>
        </p:nvPicPr>
        <p:blipFill>
          <a:blip r:embed="rId2"/>
          <a:stretch>
            <a:fillRect/>
          </a:stretch>
        </p:blipFill>
        <p:spPr>
          <a:xfrm>
            <a:off x="4668926" y="1788566"/>
            <a:ext cx="309067" cy="309067"/>
          </a:xfrm>
          <a:prstGeom prst="rect">
            <a:avLst/>
          </a:prstGeom>
        </p:spPr>
      </p:pic>
      <p:sp>
        <p:nvSpPr>
          <p:cNvPr id="12" name="Text 8"/>
          <p:cNvSpPr txBox="1"/>
          <p:nvPr/>
        </p:nvSpPr>
        <p:spPr>
          <a:xfrm>
            <a:off x="5257800" y="1673352"/>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2  Deepfake social engineering</a:t>
            </a:r>
            <a:endParaRPr lang="en-US" sz="1600" dirty="0"/>
          </a:p>
        </p:txBody>
      </p:sp>
      <p:sp>
        <p:nvSpPr>
          <p:cNvPr id="13" name="Text 9"/>
          <p:cNvSpPr txBox="1"/>
          <p:nvPr/>
        </p:nvSpPr>
        <p:spPr>
          <a:xfrm>
            <a:off x="4526280" y="2377440"/>
            <a:ext cx="3063240" cy="731520"/>
          </a:xfrm>
          <a:prstGeom prst="rect">
            <a:avLst/>
          </a:prstGeom>
          <a:noFill/>
          <a:ln/>
        </p:spPr>
        <p:txBody>
          <a:bodyPr wrap="square" lIns="0" tIns="0" rIns="0" bIns="0" rtlCol="0" anchor="t"/>
          <a:lstStyle/>
          <a:p>
            <a:pPr indent="0" marL="0">
              <a:buNone/>
            </a:pPr>
            <a:r>
              <a:rPr lang="en-US" sz="1400" dirty="0">
                <a:solidFill>
                  <a:schemeClr val="tx1"/>
                </a:solidFill>
              </a:rPr>
              <a:t>Cloned voices and faces bend payment, help-desk and hiring processes</a:t>
            </a:r>
            <a:endParaRPr lang="en-US" sz="1400" dirty="0"/>
          </a:p>
        </p:txBody>
      </p:sp>
      <p:sp>
        <p:nvSpPr>
          <p:cNvPr id="14" name="Text 10"/>
          <p:cNvSpPr txBox="1"/>
          <p:nvPr/>
        </p:nvSpPr>
        <p:spPr>
          <a:xfrm>
            <a:off x="4526280" y="310896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AI as weapon</a:t>
            </a:r>
            <a:endParaRPr lang="en-US" sz="1200" dirty="0"/>
          </a:p>
        </p:txBody>
      </p:sp>
      <p:sp>
        <p:nvSpPr>
          <p:cNvPr id="15" name="class-3"/>
          <p:cNvSpPr/>
          <p:nvPr/>
        </p:nvSpPr>
        <p:spPr>
          <a:xfrm>
            <a:off x="8046720" y="1417320"/>
            <a:ext cx="3520440" cy="2148840"/>
          </a:xfrm>
          <a:prstGeom prst="roundRect">
            <a:avLst>
              <a:gd name="adj" fmla="val 5106"/>
            </a:avLst>
          </a:prstGeom>
          <a:solidFill>
            <a:schemeClr val="bg2"/>
          </a:solidFill>
          <a:ln w="9525">
            <a:solidFill>
              <a:schemeClr val="bg2"/>
            </a:solidFill>
            <a:prstDash val="solid"/>
          </a:ln>
        </p:spPr>
      </p:sp>
      <p:sp>
        <p:nvSpPr>
          <p:cNvPr id="16" name="class-icon-3-circle"/>
          <p:cNvSpPr/>
          <p:nvPr/>
        </p:nvSpPr>
        <p:spPr>
          <a:xfrm>
            <a:off x="8275320" y="1645920"/>
            <a:ext cx="594360" cy="594360"/>
          </a:xfrm>
          <a:prstGeom prst="ellipse">
            <a:avLst/>
          </a:prstGeom>
          <a:solidFill>
            <a:schemeClr val="accent1"/>
          </a:solidFill>
          <a:ln w="6350">
            <a:solidFill>
              <a:schemeClr val="accent1"/>
            </a:solidFill>
            <a:prstDash val="solid"/>
          </a:ln>
        </p:spPr>
      </p:sp>
      <p:pic>
        <p:nvPicPr>
          <p:cNvPr id="17" name="class-icon-3-icon" descr="preencoded.png">    </p:cNvPr>
          <p:cNvPicPr>
            <a:picLocks noChangeAspect="1"/>
          </p:cNvPicPr>
          <p:nvPr/>
        </p:nvPicPr>
        <p:blipFill>
          <a:blip r:embed="rId3"/>
          <a:stretch>
            <a:fillRect/>
          </a:stretch>
        </p:blipFill>
        <p:spPr>
          <a:xfrm>
            <a:off x="8417966" y="1788566"/>
            <a:ext cx="309067" cy="309067"/>
          </a:xfrm>
          <a:prstGeom prst="rect">
            <a:avLst/>
          </a:prstGeom>
        </p:spPr>
      </p:pic>
      <p:sp>
        <p:nvSpPr>
          <p:cNvPr id="18" name="Text 13"/>
          <p:cNvSpPr txBox="1"/>
          <p:nvPr/>
        </p:nvSpPr>
        <p:spPr>
          <a:xfrm>
            <a:off x="9006840" y="1673352"/>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3  AI-native malware</a:t>
            </a:r>
            <a:endParaRPr lang="en-US" sz="1600" dirty="0"/>
          </a:p>
        </p:txBody>
      </p:sp>
      <p:sp>
        <p:nvSpPr>
          <p:cNvPr id="19" name="Text 14"/>
          <p:cNvSpPr txBox="1"/>
          <p:nvPr/>
        </p:nvSpPr>
        <p:spPr>
          <a:xfrm>
            <a:off x="8275320" y="2377440"/>
            <a:ext cx="3063240" cy="731520"/>
          </a:xfrm>
          <a:prstGeom prst="rect">
            <a:avLst/>
          </a:prstGeom>
          <a:noFill/>
          <a:ln/>
        </p:spPr>
        <p:txBody>
          <a:bodyPr wrap="square" lIns="0" tIns="0" rIns="0" bIns="0" rtlCol="0" anchor="t"/>
          <a:lstStyle/>
          <a:p>
            <a:pPr indent="0" marL="0">
              <a:buNone/>
            </a:pPr>
            <a:r>
              <a:rPr lang="en-US" sz="1400" dirty="0">
                <a:solidFill>
                  <a:schemeClr val="tx1"/>
                </a:solidFill>
              </a:rPr>
              <a:t>Malware that asks a model what to do at runtime; still rare</a:t>
            </a:r>
            <a:endParaRPr lang="en-US" sz="1400" dirty="0"/>
          </a:p>
        </p:txBody>
      </p:sp>
      <p:sp>
        <p:nvSpPr>
          <p:cNvPr id="20" name="Text 15"/>
          <p:cNvSpPr txBox="1"/>
          <p:nvPr/>
        </p:nvSpPr>
        <p:spPr>
          <a:xfrm>
            <a:off x="8275320" y="310896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AI as weapon</a:t>
            </a:r>
            <a:endParaRPr lang="en-US" sz="1200" dirty="0"/>
          </a:p>
        </p:txBody>
      </p:sp>
      <p:sp>
        <p:nvSpPr>
          <p:cNvPr id="21" name="class-4"/>
          <p:cNvSpPr/>
          <p:nvPr/>
        </p:nvSpPr>
        <p:spPr>
          <a:xfrm>
            <a:off x="548640" y="3794760"/>
            <a:ext cx="3520440" cy="2148840"/>
          </a:xfrm>
          <a:prstGeom prst="roundRect">
            <a:avLst>
              <a:gd name="adj" fmla="val 5106"/>
            </a:avLst>
          </a:prstGeom>
          <a:solidFill>
            <a:schemeClr val="bg2"/>
          </a:solidFill>
          <a:ln w="9525">
            <a:solidFill>
              <a:schemeClr val="bg2"/>
            </a:solidFill>
            <a:prstDash val="solid"/>
          </a:ln>
        </p:spPr>
      </p:sp>
      <p:sp>
        <p:nvSpPr>
          <p:cNvPr id="22" name="class-icon-4-circle"/>
          <p:cNvSpPr/>
          <p:nvPr/>
        </p:nvSpPr>
        <p:spPr>
          <a:xfrm>
            <a:off x="777240" y="4023360"/>
            <a:ext cx="594360" cy="594360"/>
          </a:xfrm>
          <a:prstGeom prst="ellipse">
            <a:avLst/>
          </a:prstGeom>
          <a:solidFill>
            <a:schemeClr val="accent3"/>
          </a:solidFill>
          <a:ln w="6350">
            <a:solidFill>
              <a:schemeClr val="accent3"/>
            </a:solidFill>
            <a:prstDash val="solid"/>
          </a:ln>
        </p:spPr>
      </p:sp>
      <p:pic>
        <p:nvPicPr>
          <p:cNvPr id="23" name="class-icon-4-icon" descr="preencoded.png">    </p:cNvPr>
          <p:cNvPicPr>
            <a:picLocks noChangeAspect="1"/>
          </p:cNvPicPr>
          <p:nvPr/>
        </p:nvPicPr>
        <p:blipFill>
          <a:blip r:embed="rId4"/>
          <a:stretch>
            <a:fillRect/>
          </a:stretch>
        </p:blipFill>
        <p:spPr>
          <a:xfrm>
            <a:off x="919886" y="4166006"/>
            <a:ext cx="309067" cy="309067"/>
          </a:xfrm>
          <a:prstGeom prst="rect">
            <a:avLst/>
          </a:prstGeom>
        </p:spPr>
      </p:pic>
      <p:sp>
        <p:nvSpPr>
          <p:cNvPr id="24" name="Text 18"/>
          <p:cNvSpPr txBox="1"/>
          <p:nvPr/>
        </p:nvSpPr>
        <p:spPr>
          <a:xfrm>
            <a:off x="1508760" y="4050792"/>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4  Prompt injection</a:t>
            </a:r>
            <a:endParaRPr lang="en-US" sz="1600" dirty="0"/>
          </a:p>
        </p:txBody>
      </p:sp>
      <p:sp>
        <p:nvSpPr>
          <p:cNvPr id="25" name="Text 19"/>
          <p:cNvSpPr txBox="1"/>
          <p:nvPr/>
        </p:nvSpPr>
        <p:spPr>
          <a:xfrm>
            <a:off x="777240" y="4754880"/>
            <a:ext cx="3063240" cy="731520"/>
          </a:xfrm>
          <a:prstGeom prst="rect">
            <a:avLst/>
          </a:prstGeom>
          <a:noFill/>
          <a:ln/>
        </p:spPr>
        <p:txBody>
          <a:bodyPr wrap="square" lIns="0" tIns="0" rIns="0" bIns="0" rtlCol="0" anchor="t"/>
          <a:lstStyle/>
          <a:p>
            <a:pPr indent="0" marL="0">
              <a:buNone/>
            </a:pPr>
            <a:r>
              <a:rPr lang="en-US" sz="1400" dirty="0">
                <a:solidFill>
                  <a:schemeClr val="tx1"/>
                </a:solidFill>
              </a:rPr>
              <a:t>Any text an agent reads can act as an instruction</a:t>
            </a:r>
            <a:endParaRPr lang="en-US" sz="1400" dirty="0"/>
          </a:p>
        </p:txBody>
      </p:sp>
      <p:sp>
        <p:nvSpPr>
          <p:cNvPr id="26" name="Text 20"/>
          <p:cNvSpPr txBox="1"/>
          <p:nvPr/>
        </p:nvSpPr>
        <p:spPr>
          <a:xfrm>
            <a:off x="777240" y="5486400"/>
            <a:ext cx="3063240" cy="274320"/>
          </a:xfrm>
          <a:prstGeom prst="rect">
            <a:avLst/>
          </a:prstGeom>
          <a:noFill/>
          <a:ln/>
        </p:spPr>
        <p:txBody>
          <a:bodyPr wrap="square" lIns="0" tIns="0" rIns="0" bIns="0" rtlCol="0" anchor="t"/>
          <a:lstStyle/>
          <a:p>
            <a:pPr indent="0" marL="0">
              <a:buNone/>
            </a:pPr>
            <a:r>
              <a:rPr lang="en-US" sz="1200" b="1" dirty="0">
                <a:solidFill>
                  <a:schemeClr val="accent3"/>
                </a:solidFill>
              </a:rPr>
              <a:t>AI as target and insider</a:t>
            </a:r>
            <a:endParaRPr lang="en-US" sz="1200" dirty="0"/>
          </a:p>
        </p:txBody>
      </p:sp>
      <p:sp>
        <p:nvSpPr>
          <p:cNvPr id="27" name="class-5"/>
          <p:cNvSpPr/>
          <p:nvPr/>
        </p:nvSpPr>
        <p:spPr>
          <a:xfrm>
            <a:off x="4297680" y="3794760"/>
            <a:ext cx="3520440" cy="2148840"/>
          </a:xfrm>
          <a:prstGeom prst="roundRect">
            <a:avLst>
              <a:gd name="adj" fmla="val 5106"/>
            </a:avLst>
          </a:prstGeom>
          <a:solidFill>
            <a:schemeClr val="bg2"/>
          </a:solidFill>
          <a:ln w="9525">
            <a:solidFill>
              <a:schemeClr val="bg2"/>
            </a:solidFill>
            <a:prstDash val="solid"/>
          </a:ln>
        </p:spPr>
      </p:sp>
      <p:sp>
        <p:nvSpPr>
          <p:cNvPr id="28" name="class-icon-5-circle"/>
          <p:cNvSpPr/>
          <p:nvPr/>
        </p:nvSpPr>
        <p:spPr>
          <a:xfrm>
            <a:off x="4526280" y="4023360"/>
            <a:ext cx="594360" cy="594360"/>
          </a:xfrm>
          <a:prstGeom prst="ellipse">
            <a:avLst/>
          </a:prstGeom>
          <a:solidFill>
            <a:schemeClr val="accent3"/>
          </a:solidFill>
          <a:ln w="6350">
            <a:solidFill>
              <a:schemeClr val="accent3"/>
            </a:solidFill>
            <a:prstDash val="solid"/>
          </a:ln>
        </p:spPr>
      </p:sp>
      <p:pic>
        <p:nvPicPr>
          <p:cNvPr id="29" name="class-icon-5-icon" descr="preencoded.png">    </p:cNvPr>
          <p:cNvPicPr>
            <a:picLocks noChangeAspect="1"/>
          </p:cNvPicPr>
          <p:nvPr/>
        </p:nvPicPr>
        <p:blipFill>
          <a:blip r:embed="rId5"/>
          <a:stretch>
            <a:fillRect/>
          </a:stretch>
        </p:blipFill>
        <p:spPr>
          <a:xfrm>
            <a:off x="4668926" y="4166006"/>
            <a:ext cx="309067" cy="309067"/>
          </a:xfrm>
          <a:prstGeom prst="rect">
            <a:avLst/>
          </a:prstGeom>
        </p:spPr>
      </p:pic>
      <p:sp>
        <p:nvSpPr>
          <p:cNvPr id="30" name="Text 23"/>
          <p:cNvSpPr txBox="1"/>
          <p:nvPr/>
        </p:nvSpPr>
        <p:spPr>
          <a:xfrm>
            <a:off x="5257800" y="4050792"/>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5  AI supply chain</a:t>
            </a:r>
            <a:endParaRPr lang="en-US" sz="1600" dirty="0"/>
          </a:p>
        </p:txBody>
      </p:sp>
      <p:sp>
        <p:nvSpPr>
          <p:cNvPr id="31" name="Text 24"/>
          <p:cNvSpPr txBox="1"/>
          <p:nvPr/>
        </p:nvSpPr>
        <p:spPr>
          <a:xfrm>
            <a:off x="4526280" y="4754880"/>
            <a:ext cx="3063240" cy="731520"/>
          </a:xfrm>
          <a:prstGeom prst="rect">
            <a:avLst/>
          </a:prstGeom>
          <a:noFill/>
          <a:ln/>
        </p:spPr>
        <p:txBody>
          <a:bodyPr wrap="square" lIns="0" tIns="0" rIns="0" bIns="0" rtlCol="0" anchor="t"/>
          <a:lstStyle/>
          <a:p>
            <a:pPr indent="0" marL="0">
              <a:buNone/>
            </a:pPr>
            <a:r>
              <a:rPr lang="en-US" sz="1400" dirty="0">
                <a:solidFill>
                  <a:schemeClr val="tx1"/>
                </a:solidFill>
              </a:rPr>
              <a:t>Packages, MCP servers and skills inherit the agent's rights</a:t>
            </a:r>
            <a:endParaRPr lang="en-US" sz="1400" dirty="0"/>
          </a:p>
        </p:txBody>
      </p:sp>
      <p:sp>
        <p:nvSpPr>
          <p:cNvPr id="32" name="Text 25"/>
          <p:cNvSpPr txBox="1"/>
          <p:nvPr/>
        </p:nvSpPr>
        <p:spPr>
          <a:xfrm>
            <a:off x="4526280" y="5486400"/>
            <a:ext cx="3063240" cy="274320"/>
          </a:xfrm>
          <a:prstGeom prst="rect">
            <a:avLst/>
          </a:prstGeom>
          <a:noFill/>
          <a:ln/>
        </p:spPr>
        <p:txBody>
          <a:bodyPr wrap="square" lIns="0" tIns="0" rIns="0" bIns="0" rtlCol="0" anchor="t"/>
          <a:lstStyle/>
          <a:p>
            <a:pPr indent="0" marL="0">
              <a:buNone/>
            </a:pPr>
            <a:r>
              <a:rPr lang="en-US" sz="1200" b="1" dirty="0">
                <a:solidFill>
                  <a:schemeClr val="accent3"/>
                </a:solidFill>
              </a:rPr>
              <a:t>AI as target and insider</a:t>
            </a:r>
            <a:endParaRPr lang="en-US" sz="1200" dirty="0"/>
          </a:p>
        </p:txBody>
      </p:sp>
      <p:sp>
        <p:nvSpPr>
          <p:cNvPr id="33" name="class-6"/>
          <p:cNvSpPr/>
          <p:nvPr/>
        </p:nvSpPr>
        <p:spPr>
          <a:xfrm>
            <a:off x="8046720" y="3794760"/>
            <a:ext cx="3520440" cy="2148840"/>
          </a:xfrm>
          <a:prstGeom prst="roundRect">
            <a:avLst>
              <a:gd name="adj" fmla="val 5106"/>
            </a:avLst>
          </a:prstGeom>
          <a:solidFill>
            <a:schemeClr val="bg2"/>
          </a:solidFill>
          <a:ln w="9525">
            <a:solidFill>
              <a:schemeClr val="bg2"/>
            </a:solidFill>
            <a:prstDash val="solid"/>
          </a:ln>
        </p:spPr>
      </p:sp>
      <p:sp>
        <p:nvSpPr>
          <p:cNvPr id="34" name="class-icon-6-circle"/>
          <p:cNvSpPr/>
          <p:nvPr/>
        </p:nvSpPr>
        <p:spPr>
          <a:xfrm>
            <a:off x="8275320" y="4023360"/>
            <a:ext cx="594360" cy="594360"/>
          </a:xfrm>
          <a:prstGeom prst="ellipse">
            <a:avLst/>
          </a:prstGeom>
          <a:solidFill>
            <a:schemeClr val="accent1"/>
          </a:solidFill>
          <a:ln w="6350">
            <a:solidFill>
              <a:schemeClr val="accent1"/>
            </a:solidFill>
            <a:prstDash val="solid"/>
          </a:ln>
        </p:spPr>
      </p:sp>
      <p:pic>
        <p:nvPicPr>
          <p:cNvPr id="35" name="class-icon-6-icon" descr="preencoded.png">    </p:cNvPr>
          <p:cNvPicPr>
            <a:picLocks noChangeAspect="1"/>
          </p:cNvPicPr>
          <p:nvPr/>
        </p:nvPicPr>
        <p:blipFill>
          <a:blip r:embed="rId6"/>
          <a:stretch>
            <a:fillRect/>
          </a:stretch>
        </p:blipFill>
        <p:spPr>
          <a:xfrm>
            <a:off x="8417966" y="4166006"/>
            <a:ext cx="309067" cy="309067"/>
          </a:xfrm>
          <a:prstGeom prst="rect">
            <a:avLst/>
          </a:prstGeom>
        </p:spPr>
      </p:pic>
      <p:sp>
        <p:nvSpPr>
          <p:cNvPr id="36" name="Text 28"/>
          <p:cNvSpPr txBox="1"/>
          <p:nvPr/>
        </p:nvSpPr>
        <p:spPr>
          <a:xfrm>
            <a:off x="9006840" y="4050792"/>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6  Machine-speed discovery</a:t>
            </a:r>
            <a:endParaRPr lang="en-US" sz="1600" dirty="0"/>
          </a:p>
        </p:txBody>
      </p:sp>
      <p:sp>
        <p:nvSpPr>
          <p:cNvPr id="37" name="Text 29"/>
          <p:cNvSpPr txBox="1"/>
          <p:nvPr/>
        </p:nvSpPr>
        <p:spPr>
          <a:xfrm>
            <a:off x="8275320" y="4754880"/>
            <a:ext cx="3063240" cy="731520"/>
          </a:xfrm>
          <a:prstGeom prst="rect">
            <a:avLst/>
          </a:prstGeom>
          <a:noFill/>
          <a:ln/>
        </p:spPr>
        <p:txBody>
          <a:bodyPr wrap="square" lIns="0" tIns="0" rIns="0" bIns="0" rtlCol="0" anchor="t"/>
          <a:lstStyle/>
          <a:p>
            <a:pPr indent="0" marL="0">
              <a:buNone/>
            </a:pPr>
            <a:r>
              <a:rPr lang="en-US" sz="1400" dirty="0">
                <a:solidFill>
                  <a:schemeClr val="tx1"/>
                </a:solidFill>
              </a:rPr>
              <a:t>AI finds flaws faster than anyone can verify and patch them</a:t>
            </a:r>
            <a:endParaRPr lang="en-US" sz="1400" dirty="0"/>
          </a:p>
        </p:txBody>
      </p:sp>
      <p:sp>
        <p:nvSpPr>
          <p:cNvPr id="38" name="Text 30"/>
          <p:cNvSpPr txBox="1"/>
          <p:nvPr/>
        </p:nvSpPr>
        <p:spPr>
          <a:xfrm>
            <a:off x="8275320" y="5486400"/>
            <a:ext cx="3063240" cy="274320"/>
          </a:xfrm>
          <a:prstGeom prst="rect">
            <a:avLst/>
          </a:prstGeom>
          <a:noFill/>
          <a:ln/>
        </p:spPr>
        <p:txBody>
          <a:bodyPr wrap="square" lIns="0" tIns="0" rIns="0" bIns="0" rtlCol="0" anchor="t"/>
          <a:lstStyle/>
          <a:p>
            <a:pPr indent="0" marL="0">
              <a:buNone/>
            </a:pPr>
            <a:r>
              <a:rPr lang="en-US" sz="1200" b="1" dirty="0">
                <a:solidFill>
                  <a:schemeClr val="accent1"/>
                </a:solidFill>
              </a:rPr>
              <a:t>AI as weapon</a:t>
            </a:r>
            <a:endParaRPr lang="en-US" sz="1200" dirty="0"/>
          </a:p>
        </p:txBody>
      </p:sp>
      <p:sp>
        <p:nvSpPr>
          <p:cNvPr id="39"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Classes: AI as weapon (adversaries use AI), target (attacks on AI systems), insider (agents act on untrusted input with real privileges)</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Agents now run most of an intrusion</a:t>
            </a:r>
            <a:endParaRPr lang="en-US" sz="3400" dirty="0"/>
          </a:p>
        </p:txBody>
      </p:sp>
      <p:sp>
        <p:nvSpPr>
          <p:cNvPr id="3" name="Text 1"/>
          <p:cNvSpPr txBox="1"/>
          <p:nvPr/>
        </p:nvSpPr>
        <p:spPr>
          <a:xfrm>
            <a:off x="548640" y="1417320"/>
            <a:ext cx="1188720" cy="365760"/>
          </a:xfrm>
          <a:prstGeom prst="rect">
            <a:avLst/>
          </a:prstGeom>
          <a:noFill/>
          <a:ln/>
        </p:spPr>
        <p:txBody>
          <a:bodyPr wrap="square" lIns="0" tIns="0" rIns="0" bIns="0" rtlCol="0" anchor="t"/>
          <a:lstStyle/>
          <a:p>
            <a:pPr indent="0" marL="0">
              <a:buNone/>
            </a:pPr>
            <a:r>
              <a:rPr lang="en-US" sz="1400" b="1" dirty="0">
                <a:solidFill>
                  <a:schemeClr val="accent1"/>
                </a:solidFill>
              </a:rPr>
              <a:t>Aug 2025</a:t>
            </a:r>
            <a:endParaRPr lang="en-US" sz="1400" dirty="0"/>
          </a:p>
        </p:txBody>
      </p:sp>
      <p:sp>
        <p:nvSpPr>
          <p:cNvPr id="4" name="Text 2"/>
          <p:cNvSpPr txBox="1"/>
          <p:nvPr/>
        </p:nvSpPr>
        <p:spPr>
          <a:xfrm>
            <a:off x="1828800" y="1417320"/>
            <a:ext cx="5120640" cy="365760"/>
          </a:xfrm>
          <a:prstGeom prst="rect">
            <a:avLst/>
          </a:prstGeom>
          <a:noFill/>
          <a:ln/>
        </p:spPr>
        <p:txBody>
          <a:bodyPr wrap="square" lIns="0" tIns="0" rIns="0" bIns="0" rtlCol="0" anchor="t"/>
          <a:lstStyle/>
          <a:p>
            <a:pPr indent="0" marL="0">
              <a:buNone/>
            </a:pPr>
            <a:r>
              <a:rPr lang="en-US" sz="1600" b="1" dirty="0">
                <a:solidFill>
                  <a:schemeClr val="tx1"/>
                </a:solidFill>
              </a:rPr>
              <a:t>"Vibe hacking" extortion</a:t>
            </a:r>
            <a:endParaRPr lang="en-US" sz="1600" dirty="0"/>
          </a:p>
        </p:txBody>
      </p:sp>
      <p:sp>
        <p:nvSpPr>
          <p:cNvPr id="5" name="Text 3"/>
          <p:cNvSpPr txBox="1"/>
          <p:nvPr/>
        </p:nvSpPr>
        <p:spPr>
          <a:xfrm>
            <a:off x="1828800" y="1783080"/>
            <a:ext cx="5120640" cy="731520"/>
          </a:xfrm>
          <a:prstGeom prst="rect">
            <a:avLst/>
          </a:prstGeom>
          <a:noFill/>
          <a:ln/>
        </p:spPr>
        <p:txBody>
          <a:bodyPr wrap="square" lIns="0" tIns="0" rIns="0" bIns="0" rtlCol="0" anchor="t"/>
          <a:lstStyle/>
          <a:p>
            <a:pPr indent="0" marL="0">
              <a:buNone/>
            </a:pPr>
            <a:r>
              <a:rPr lang="en-US" sz="1400" dirty="0">
                <a:solidFill>
                  <a:schemeClr val="tx1"/>
                </a:solidFill>
              </a:rPr>
              <a:t>One criminal used Claude Code against at least 17 organizations; ransom demands sometimes above $500,000</a:t>
            </a:r>
            <a:endParaRPr lang="en-US" sz="1400" dirty="0"/>
          </a:p>
        </p:txBody>
      </p:sp>
      <p:sp>
        <p:nvSpPr>
          <p:cNvPr id="6" name="Text 4"/>
          <p:cNvSpPr txBox="1"/>
          <p:nvPr/>
        </p:nvSpPr>
        <p:spPr>
          <a:xfrm>
            <a:off x="548640" y="2587752"/>
            <a:ext cx="1188720" cy="365760"/>
          </a:xfrm>
          <a:prstGeom prst="rect">
            <a:avLst/>
          </a:prstGeom>
          <a:noFill/>
          <a:ln/>
        </p:spPr>
        <p:txBody>
          <a:bodyPr wrap="square" lIns="0" tIns="0" rIns="0" bIns="0" rtlCol="0" anchor="t"/>
          <a:lstStyle/>
          <a:p>
            <a:pPr indent="0" marL="0">
              <a:buNone/>
            </a:pPr>
            <a:r>
              <a:rPr lang="en-US" sz="1400" b="1" dirty="0">
                <a:solidFill>
                  <a:schemeClr val="accent1"/>
                </a:solidFill>
              </a:rPr>
              <a:t>Nov 2025</a:t>
            </a:r>
            <a:endParaRPr lang="en-US" sz="1400" dirty="0"/>
          </a:p>
        </p:txBody>
      </p:sp>
      <p:sp>
        <p:nvSpPr>
          <p:cNvPr id="7" name="Text 5"/>
          <p:cNvSpPr txBox="1"/>
          <p:nvPr/>
        </p:nvSpPr>
        <p:spPr>
          <a:xfrm>
            <a:off x="1828800" y="2587752"/>
            <a:ext cx="5120640" cy="365760"/>
          </a:xfrm>
          <a:prstGeom prst="rect">
            <a:avLst/>
          </a:prstGeom>
          <a:noFill/>
          <a:ln/>
        </p:spPr>
        <p:txBody>
          <a:bodyPr wrap="square" lIns="0" tIns="0" rIns="0" bIns="0" rtlCol="0" anchor="t"/>
          <a:lstStyle/>
          <a:p>
            <a:pPr indent="0" marL="0">
              <a:buNone/>
            </a:pPr>
            <a:r>
              <a:rPr lang="en-US" sz="1600" b="1" dirty="0">
                <a:solidFill>
                  <a:schemeClr val="tx1"/>
                </a:solidFill>
              </a:rPr>
              <a:t>GTG-1002 espionage</a:t>
            </a:r>
            <a:endParaRPr lang="en-US" sz="1600" dirty="0"/>
          </a:p>
        </p:txBody>
      </p:sp>
      <p:sp>
        <p:nvSpPr>
          <p:cNvPr id="8" name="Text 6"/>
          <p:cNvSpPr txBox="1"/>
          <p:nvPr/>
        </p:nvSpPr>
        <p:spPr>
          <a:xfrm>
            <a:off x="1828800" y="2953512"/>
            <a:ext cx="5120640" cy="731520"/>
          </a:xfrm>
          <a:prstGeom prst="rect">
            <a:avLst/>
          </a:prstGeom>
          <a:noFill/>
          <a:ln/>
        </p:spPr>
        <p:txBody>
          <a:bodyPr wrap="square" lIns="0" tIns="0" rIns="0" bIns="0" rtlCol="0" anchor="t"/>
          <a:lstStyle/>
          <a:p>
            <a:pPr indent="0" marL="0">
              <a:buNone/>
            </a:pPr>
            <a:r>
              <a:rPr lang="en-US" sz="1400" dirty="0">
                <a:solidFill>
                  <a:schemeClr val="tx1"/>
                </a:solidFill>
              </a:rPr>
              <a:t>Chinese state group: AI did 80-90% of tactical work against about 30 targets; humans at 4-6 decision points</a:t>
            </a:r>
            <a:endParaRPr lang="en-US" sz="1400" dirty="0"/>
          </a:p>
        </p:txBody>
      </p:sp>
      <p:sp>
        <p:nvSpPr>
          <p:cNvPr id="9" name="Text 7"/>
          <p:cNvSpPr txBox="1"/>
          <p:nvPr/>
        </p:nvSpPr>
        <p:spPr>
          <a:xfrm>
            <a:off x="548640" y="3758184"/>
            <a:ext cx="1188720" cy="365760"/>
          </a:xfrm>
          <a:prstGeom prst="rect">
            <a:avLst/>
          </a:prstGeom>
          <a:noFill/>
          <a:ln/>
        </p:spPr>
        <p:txBody>
          <a:bodyPr wrap="square" lIns="0" tIns="0" rIns="0" bIns="0" rtlCol="0" anchor="t"/>
          <a:lstStyle/>
          <a:p>
            <a:pPr indent="0" marL="0">
              <a:buNone/>
            </a:pPr>
            <a:r>
              <a:rPr lang="en-US" sz="1400" b="1" dirty="0">
                <a:solidFill>
                  <a:schemeClr val="accent1"/>
                </a:solidFill>
              </a:rPr>
              <a:t>Jul 2026</a:t>
            </a:r>
            <a:endParaRPr lang="en-US" sz="1400" dirty="0"/>
          </a:p>
        </p:txBody>
      </p:sp>
      <p:sp>
        <p:nvSpPr>
          <p:cNvPr id="10" name="Text 8"/>
          <p:cNvSpPr txBox="1"/>
          <p:nvPr/>
        </p:nvSpPr>
        <p:spPr>
          <a:xfrm>
            <a:off x="1828800" y="3758184"/>
            <a:ext cx="5120640" cy="365760"/>
          </a:xfrm>
          <a:prstGeom prst="rect">
            <a:avLst/>
          </a:prstGeom>
          <a:noFill/>
          <a:ln/>
        </p:spPr>
        <p:txBody>
          <a:bodyPr wrap="square" lIns="0" tIns="0" rIns="0" bIns="0" rtlCol="0" anchor="t"/>
          <a:lstStyle/>
          <a:p>
            <a:pPr indent="0" marL="0">
              <a:buNone/>
            </a:pPr>
            <a:r>
              <a:rPr lang="en-US" sz="1600" b="1" dirty="0">
                <a:solidFill>
                  <a:schemeClr val="tx1"/>
                </a:solidFill>
              </a:rPr>
              <a:t>JADEPUFFER ransomware</a:t>
            </a:r>
            <a:endParaRPr lang="en-US" sz="1600" dirty="0"/>
          </a:p>
        </p:txBody>
      </p:sp>
      <p:sp>
        <p:nvSpPr>
          <p:cNvPr id="11" name="Text 9"/>
          <p:cNvSpPr txBox="1"/>
          <p:nvPr/>
        </p:nvSpPr>
        <p:spPr>
          <a:xfrm>
            <a:off x="1828800" y="4123944"/>
            <a:ext cx="5120640" cy="731520"/>
          </a:xfrm>
          <a:prstGeom prst="rect">
            <a:avLst/>
          </a:prstGeom>
          <a:noFill/>
          <a:ln/>
        </p:spPr>
        <p:txBody>
          <a:bodyPr wrap="square" lIns="0" tIns="0" rIns="0" bIns="0" rtlCol="0" anchor="t"/>
          <a:lstStyle/>
          <a:p>
            <a:pPr indent="0" marL="0">
              <a:buNone/>
            </a:pPr>
            <a:r>
              <a:rPr lang="en-US" sz="1400" dirty="0">
                <a:solidFill>
                  <a:schemeClr val="tx1"/>
                </a:solidFill>
              </a:rPr>
              <a:t>Agent exploited Langflow, ran 600+ payloads, encrypted 1,342 config items; the key was never saved</a:t>
            </a:r>
            <a:endParaRPr lang="en-US" sz="1400" dirty="0"/>
          </a:p>
        </p:txBody>
      </p:sp>
      <p:sp>
        <p:nvSpPr>
          <p:cNvPr id="12" name="Text 10"/>
          <p:cNvSpPr txBox="1"/>
          <p:nvPr/>
        </p:nvSpPr>
        <p:spPr>
          <a:xfrm>
            <a:off x="548640" y="4928616"/>
            <a:ext cx="1188720" cy="365760"/>
          </a:xfrm>
          <a:prstGeom prst="rect">
            <a:avLst/>
          </a:prstGeom>
          <a:noFill/>
          <a:ln/>
        </p:spPr>
        <p:txBody>
          <a:bodyPr wrap="square" lIns="0" tIns="0" rIns="0" bIns="0" rtlCol="0" anchor="t"/>
          <a:lstStyle/>
          <a:p>
            <a:pPr indent="0" marL="0">
              <a:buNone/>
            </a:pPr>
            <a:r>
              <a:rPr lang="en-US" sz="1400" b="1" dirty="0">
                <a:solidFill>
                  <a:schemeClr val="accent1"/>
                </a:solidFill>
              </a:rPr>
              <a:t>Sep 2026</a:t>
            </a:r>
            <a:endParaRPr lang="en-US" sz="1400" dirty="0"/>
          </a:p>
        </p:txBody>
      </p:sp>
      <p:sp>
        <p:nvSpPr>
          <p:cNvPr id="13" name="Text 11"/>
          <p:cNvSpPr txBox="1"/>
          <p:nvPr/>
        </p:nvSpPr>
        <p:spPr>
          <a:xfrm>
            <a:off x="1828800" y="4928616"/>
            <a:ext cx="5120640" cy="365760"/>
          </a:xfrm>
          <a:prstGeom prst="rect">
            <a:avLst/>
          </a:prstGeom>
          <a:noFill/>
          <a:ln/>
        </p:spPr>
        <p:txBody>
          <a:bodyPr wrap="square" lIns="0" tIns="0" rIns="0" bIns="0" rtlCol="0" anchor="t"/>
          <a:lstStyle/>
          <a:p>
            <a:pPr indent="0" marL="0">
              <a:buNone/>
            </a:pPr>
            <a:r>
              <a:rPr lang="en-US" sz="1600" b="1" dirty="0">
                <a:solidFill>
                  <a:schemeClr val="tx1"/>
                </a:solidFill>
              </a:rPr>
              <a:t>GTIG credential pipeline</a:t>
            </a:r>
            <a:endParaRPr lang="en-US" sz="1600" dirty="0"/>
          </a:p>
        </p:txBody>
      </p:sp>
      <p:sp>
        <p:nvSpPr>
          <p:cNvPr id="14" name="Text 12"/>
          <p:cNvSpPr txBox="1"/>
          <p:nvPr/>
        </p:nvSpPr>
        <p:spPr>
          <a:xfrm>
            <a:off x="1828800" y="5294376"/>
            <a:ext cx="5120640" cy="731520"/>
          </a:xfrm>
          <a:prstGeom prst="rect">
            <a:avLst/>
          </a:prstGeom>
          <a:noFill/>
          <a:ln/>
        </p:spPr>
        <p:txBody>
          <a:bodyPr wrap="square" lIns="0" tIns="0" rIns="0" bIns="0" rtlCol="0" anchor="t"/>
          <a:lstStyle/>
          <a:p>
            <a:pPr indent="0" marL="0">
              <a:buNone/>
            </a:pPr>
            <a:r>
              <a:rPr lang="en-US" sz="1400" dirty="0">
                <a:solidFill>
                  <a:schemeClr val="tx1"/>
                </a:solidFill>
              </a:rPr>
              <a:t>Criminals built a mass credential-harvesting campaign in under six hours from a hijacked cloud tenant</a:t>
            </a:r>
            <a:endParaRPr lang="en-US" sz="1400" dirty="0"/>
          </a:p>
        </p:txBody>
      </p:sp>
      <p:sp>
        <p:nvSpPr>
          <p:cNvPr id="15" name="lessons-card"/>
          <p:cNvSpPr/>
          <p:nvPr/>
        </p:nvSpPr>
        <p:spPr>
          <a:xfrm>
            <a:off x="7406640" y="1417320"/>
            <a:ext cx="4206240" cy="4617720"/>
          </a:xfrm>
          <a:prstGeom prst="roundRect">
            <a:avLst>
              <a:gd name="adj" fmla="val 2609"/>
            </a:avLst>
          </a:prstGeom>
          <a:solidFill>
            <a:schemeClr val="bg2"/>
          </a:solidFill>
          <a:ln w="9525">
            <a:solidFill>
              <a:schemeClr val="bg2"/>
            </a:solidFill>
            <a:prstDash val="solid"/>
          </a:ln>
        </p:spPr>
      </p:sp>
      <p:sp>
        <p:nvSpPr>
          <p:cNvPr id="16" name="c1-lessons-circle"/>
          <p:cNvSpPr/>
          <p:nvPr/>
        </p:nvSpPr>
        <p:spPr>
          <a:xfrm>
            <a:off x="7680960" y="1645920"/>
            <a:ext cx="548640" cy="548640"/>
          </a:xfrm>
          <a:prstGeom prst="ellipse">
            <a:avLst/>
          </a:prstGeom>
          <a:solidFill>
            <a:schemeClr val="accent2"/>
          </a:solidFill>
          <a:ln w="6350">
            <a:solidFill>
              <a:schemeClr val="accent2"/>
            </a:solidFill>
            <a:prstDash val="solid"/>
          </a:ln>
        </p:spPr>
      </p:sp>
      <p:pic>
        <p:nvPicPr>
          <p:cNvPr id="17" name="c1-lessons-icon" descr="preencoded.png">    </p:cNvPr>
          <p:cNvPicPr>
            <a:picLocks noChangeAspect="1"/>
          </p:cNvPicPr>
          <p:nvPr/>
        </p:nvPicPr>
        <p:blipFill>
          <a:blip r:embed="rId1"/>
          <a:stretch>
            <a:fillRect/>
          </a:stretch>
        </p:blipFill>
        <p:spPr>
          <a:xfrm>
            <a:off x="7812634" y="1777594"/>
            <a:ext cx="285293" cy="285293"/>
          </a:xfrm>
          <a:prstGeom prst="rect">
            <a:avLst/>
          </a:prstGeom>
        </p:spPr>
      </p:pic>
      <p:sp>
        <p:nvSpPr>
          <p:cNvPr id="18" name="Text 15"/>
          <p:cNvSpPr txBox="1"/>
          <p:nvPr/>
        </p:nvSpPr>
        <p:spPr>
          <a:xfrm>
            <a:off x="8366760" y="1691640"/>
            <a:ext cx="3108960" cy="457200"/>
          </a:xfrm>
          <a:prstGeom prst="rect">
            <a:avLst/>
          </a:prstGeom>
          <a:noFill/>
          <a:ln/>
        </p:spPr>
        <p:txBody>
          <a:bodyPr wrap="square" lIns="0" tIns="0" rIns="0" bIns="0" rtlCol="0" anchor="ctr"/>
          <a:lstStyle/>
          <a:p>
            <a:pPr indent="0" marL="0">
              <a:buNone/>
            </a:pPr>
            <a:r>
              <a:rPr lang="en-US" sz="1800" b="1" dirty="0">
                <a:solidFill>
                  <a:schemeClr val="tx1"/>
                </a:solidFill>
              </a:rPr>
              <a:t>What defenders should do</a:t>
            </a:r>
            <a:endParaRPr lang="en-US" sz="1800" dirty="0"/>
          </a:p>
        </p:txBody>
      </p:sp>
      <p:sp>
        <p:nvSpPr>
          <p:cNvPr id="19" name="Text 16"/>
          <p:cNvSpPr txBox="1"/>
          <p:nvPr/>
        </p:nvSpPr>
        <p:spPr>
          <a:xfrm>
            <a:off x="7680960" y="2423160"/>
            <a:ext cx="3703320" cy="34747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Pre-approve automatic containment for high-confidence signals</a:t>
            </a:r>
            <a:endParaRPr lang="en-US" sz="1500" dirty="0"/>
          </a:p>
          <a:p>
            <a:pPr marL="177800" indent="-177800">
              <a:spcAft>
                <a:spcPts val="600"/>
              </a:spcAft>
              <a:buSzPct val="100000"/>
              <a:buChar char="•"/>
            </a:pPr>
            <a:r>
              <a:rPr lang="en-US" sz="1500" dirty="0">
                <a:solidFill>
                  <a:schemeClr val="tx1"/>
                </a:solidFill>
              </a:rPr>
              <a:t>Keep secrets off AI orchestration hosts such as Langflow</a:t>
            </a:r>
            <a:endParaRPr lang="en-US" sz="1500" dirty="0"/>
          </a:p>
          <a:p>
            <a:pPr marL="177800" indent="-177800">
              <a:spcAft>
                <a:spcPts val="600"/>
              </a:spcAft>
              <a:buSzPct val="100000"/>
              <a:buChar char="•"/>
            </a:pPr>
            <a:r>
              <a:rPr lang="en-US" sz="1500" dirty="0">
                <a:solidFill>
                  <a:schemeClr val="tx1"/>
                </a:solidFill>
              </a:rPr>
              <a:t>Hunt for agent artifacts: AGENTS.md playbooks, self-narrating payloads</a:t>
            </a:r>
            <a:endParaRPr lang="en-US" sz="1500" dirty="0"/>
          </a:p>
          <a:p>
            <a:pPr marL="177800" indent="-177800">
              <a:spcAft>
                <a:spcPts val="600"/>
              </a:spcAft>
              <a:buSzPct val="100000"/>
              <a:buChar char="•"/>
            </a:pPr>
            <a:r>
              <a:rPr lang="en-US" sz="1500" dirty="0">
                <a:solidFill>
                  <a:schemeClr val="tx1"/>
                </a:solidFill>
              </a:rPr>
              <a:t>Plant canary credentials: agents trust what they find</a:t>
            </a:r>
            <a:endParaRPr lang="en-US" sz="1500" dirty="0"/>
          </a:p>
        </p:txBody>
      </p:sp>
      <p:sp>
        <p:nvSpPr>
          <p:cNvPr id="20"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Anthropic (Aug and Nov 2025); Sysdig (Jul 2026); Google Threat Intelligence Group (Sep 2026)</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 familiar voice no longer proves identity</a:t>
            </a:r>
            <a:endParaRPr lang="en-US" sz="3400" dirty="0"/>
          </a:p>
        </p:txBody>
      </p:sp>
      <p:sp>
        <p:nvSpPr>
          <p:cNvPr id="3" name="stat-value"/>
          <p:cNvSpPr txBox="1"/>
          <p:nvPr/>
        </p:nvSpPr>
        <p:spPr>
          <a:xfrm>
            <a:off x="548640" y="1463040"/>
            <a:ext cx="3383280" cy="635000"/>
          </a:xfrm>
          <a:prstGeom prst="rect">
            <a:avLst/>
          </a:prstGeom>
          <a:noFill/>
          <a:ln/>
        </p:spPr>
        <p:txBody>
          <a:bodyPr wrap="square" lIns="0" tIns="0" rIns="0" bIns="0" rtlCol="0" anchor="b"/>
          <a:lstStyle/>
          <a:p>
            <a:pPr indent="0" marL="0">
              <a:buNone/>
            </a:pPr>
            <a:r>
              <a:rPr lang="en-US" sz="4000" b="1" dirty="0">
                <a:solidFill>
                  <a:schemeClr val="accent1"/>
                </a:solidFill>
                <a:latin typeface="+mj-lt" pitchFamily="34" charset="0"/>
                <a:ea typeface="+mj-lt" pitchFamily="34" charset="-122"/>
                <a:cs typeface="+mj-lt" pitchFamily="34" charset="-120"/>
              </a:rPr>
              <a:t>HK$200M</a:t>
            </a:r>
            <a:endParaRPr lang="en-US" sz="4000" dirty="0"/>
          </a:p>
        </p:txBody>
      </p:sp>
      <p:sp>
        <p:nvSpPr>
          <p:cNvPr id="4" name="stat-label"/>
          <p:cNvSpPr txBox="1"/>
          <p:nvPr/>
        </p:nvSpPr>
        <p:spPr>
          <a:xfrm>
            <a:off x="548640" y="2171192"/>
            <a:ext cx="3383280" cy="1097280"/>
          </a:xfrm>
          <a:prstGeom prst="rect">
            <a:avLst/>
          </a:prstGeom>
          <a:noFill/>
          <a:ln/>
        </p:spPr>
        <p:txBody>
          <a:bodyPr wrap="square" lIns="0" tIns="0" rIns="0" bIns="0" rtlCol="0" anchor="t"/>
          <a:lstStyle/>
          <a:p>
            <a:pPr indent="0" marL="0">
              <a:buNone/>
            </a:pPr>
            <a:r>
              <a:rPr lang="en-US" sz="1400" dirty="0">
                <a:solidFill>
                  <a:schemeClr val="tx1"/>
                </a:solidFill>
              </a:rPr>
              <a:t>sent in 15 transfers after a video call where every colleague was a deepfake (Arup, Hong Kong, 2024)</a:t>
            </a:r>
            <a:endParaRPr lang="en-US" sz="1400" dirty="0"/>
          </a:p>
        </p:txBody>
      </p:sp>
      <p:sp>
        <p:nvSpPr>
          <p:cNvPr id="5" name="stat-value"/>
          <p:cNvSpPr txBox="1"/>
          <p:nvPr/>
        </p:nvSpPr>
        <p:spPr>
          <a:xfrm>
            <a:off x="548640" y="3429000"/>
            <a:ext cx="3383280" cy="635000"/>
          </a:xfrm>
          <a:prstGeom prst="rect">
            <a:avLst/>
          </a:prstGeom>
          <a:noFill/>
          <a:ln/>
        </p:spPr>
        <p:txBody>
          <a:bodyPr wrap="square" lIns="0" tIns="0" rIns="0" bIns="0" rtlCol="0" anchor="b"/>
          <a:lstStyle/>
          <a:p>
            <a:pPr indent="0" marL="0">
              <a:buNone/>
            </a:pPr>
            <a:r>
              <a:rPr lang="en-US" sz="4000" b="1" dirty="0">
                <a:solidFill>
                  <a:schemeClr val="accent1"/>
                </a:solidFill>
                <a:latin typeface="+mj-lt" pitchFamily="34" charset="0"/>
                <a:ea typeface="+mj-lt" pitchFamily="34" charset="-122"/>
                <a:cs typeface="+mj-lt" pitchFamily="34" charset="-120"/>
              </a:rPr>
              <a:t>45%</a:t>
            </a:r>
            <a:endParaRPr lang="en-US" sz="4000" dirty="0"/>
          </a:p>
        </p:txBody>
      </p:sp>
      <p:sp>
        <p:nvSpPr>
          <p:cNvPr id="6" name="stat-label"/>
          <p:cNvSpPr txBox="1"/>
          <p:nvPr/>
        </p:nvSpPr>
        <p:spPr>
          <a:xfrm>
            <a:off x="548640" y="4137152"/>
            <a:ext cx="3383280" cy="914400"/>
          </a:xfrm>
          <a:prstGeom prst="rect">
            <a:avLst/>
          </a:prstGeom>
          <a:noFill/>
          <a:ln/>
        </p:spPr>
        <p:txBody>
          <a:bodyPr wrap="square" lIns="0" tIns="0" rIns="0" bIns="0" rtlCol="0" anchor="t"/>
          <a:lstStyle/>
          <a:p>
            <a:pPr indent="0" marL="0">
              <a:buNone/>
            </a:pPr>
            <a:r>
              <a:rPr lang="en-US" sz="1400" dirty="0">
                <a:solidFill>
                  <a:schemeClr val="tx1"/>
                </a:solidFill>
              </a:rPr>
              <a:t>of malicious AI-driven attacks were deepfake impersonation (IBM 2026)</a:t>
            </a:r>
            <a:endParaRPr lang="en-US" sz="1400" dirty="0"/>
          </a:p>
        </p:txBody>
      </p:sp>
      <p:sp>
        <p:nvSpPr>
          <p:cNvPr id="7" name="c2-how"/>
          <p:cNvSpPr/>
          <p:nvPr/>
        </p:nvSpPr>
        <p:spPr>
          <a:xfrm>
            <a:off x="4297680" y="1417320"/>
            <a:ext cx="3429000" cy="3657600"/>
          </a:xfrm>
          <a:prstGeom prst="roundRect">
            <a:avLst>
              <a:gd name="adj" fmla="val 3200"/>
            </a:avLst>
          </a:prstGeom>
          <a:solidFill>
            <a:schemeClr val="bg2"/>
          </a:solidFill>
          <a:ln w="9525">
            <a:solidFill>
              <a:schemeClr val="bg2"/>
            </a:solidFill>
            <a:prstDash val="solid"/>
          </a:ln>
        </p:spPr>
      </p:sp>
      <p:sp>
        <p:nvSpPr>
          <p:cNvPr id="8" name="Text 6"/>
          <p:cNvSpPr txBox="1"/>
          <p:nvPr/>
        </p:nvSpPr>
        <p:spPr>
          <a:xfrm>
            <a:off x="4526280" y="16002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How it works</a:t>
            </a:r>
            <a:endParaRPr lang="en-US" sz="1800" dirty="0"/>
          </a:p>
        </p:txBody>
      </p:sp>
      <p:sp>
        <p:nvSpPr>
          <p:cNvPr id="9" name="Text 7"/>
          <p:cNvSpPr txBox="1"/>
          <p:nvPr/>
        </p:nvSpPr>
        <p:spPr>
          <a:xfrm>
            <a:off x="4526280" y="2103120"/>
            <a:ext cx="3017520" cy="37490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Harvest public audio and video of the person</a:t>
            </a:r>
            <a:endParaRPr lang="en-US" sz="1500" dirty="0"/>
          </a:p>
          <a:p>
            <a:pPr marL="177800" indent="-177800">
              <a:spcAft>
                <a:spcPts val="600"/>
              </a:spcAft>
              <a:buSzPct val="100000"/>
              <a:buChar char="•"/>
            </a:pPr>
            <a:r>
              <a:rPr lang="en-US" sz="1500" dirty="0">
                <a:solidFill>
                  <a:schemeClr val="tx1"/>
                </a:solidFill>
              </a:rPr>
              <a:t>Generate a live or recorded likeness</a:t>
            </a:r>
            <a:endParaRPr lang="en-US" sz="1500" dirty="0"/>
          </a:p>
          <a:p>
            <a:pPr marL="177800" indent="-177800">
              <a:spcAft>
                <a:spcPts val="600"/>
              </a:spcAft>
              <a:buSzPct val="100000"/>
              <a:buChar char="•"/>
            </a:pPr>
            <a:r>
              <a:rPr lang="en-US" sz="1500" dirty="0">
                <a:solidFill>
                  <a:schemeClr val="tx1"/>
                </a:solidFill>
              </a:rPr>
              <a:t>Wrap it in a pretext: urgent deal, move to Signal, remote hire</a:t>
            </a:r>
            <a:endParaRPr lang="en-US" sz="1500" dirty="0"/>
          </a:p>
          <a:p>
            <a:pPr marL="177800" indent="-177800">
              <a:spcAft>
                <a:spcPts val="600"/>
              </a:spcAft>
              <a:buSzPct val="100000"/>
              <a:buChar char="•"/>
            </a:pPr>
            <a:r>
              <a:rPr lang="en-US" sz="1500" dirty="0">
                <a:solidFill>
                  <a:schemeClr val="tx1"/>
                </a:solidFill>
              </a:rPr>
              <a:t>North Korean IT workers pass interviews and receive real laptops and MFA</a:t>
            </a:r>
            <a:endParaRPr lang="en-US" sz="1500" dirty="0"/>
          </a:p>
        </p:txBody>
      </p:sp>
      <p:sp>
        <p:nvSpPr>
          <p:cNvPr id="10" name="c2-controls"/>
          <p:cNvSpPr/>
          <p:nvPr/>
        </p:nvSpPr>
        <p:spPr>
          <a:xfrm>
            <a:off x="8001000" y="1417320"/>
            <a:ext cx="3611880" cy="3657600"/>
          </a:xfrm>
          <a:prstGeom prst="roundRect">
            <a:avLst>
              <a:gd name="adj" fmla="val 3038"/>
            </a:avLst>
          </a:prstGeom>
          <a:solidFill>
            <a:schemeClr val="bg2"/>
          </a:solidFill>
          <a:ln w="9525">
            <a:solidFill>
              <a:schemeClr val="bg2"/>
            </a:solidFill>
            <a:prstDash val="solid"/>
          </a:ln>
        </p:spPr>
      </p:sp>
      <p:sp>
        <p:nvSpPr>
          <p:cNvPr id="11" name="c2-phone-circle"/>
          <p:cNvSpPr/>
          <p:nvPr/>
        </p:nvSpPr>
        <p:spPr>
          <a:xfrm>
            <a:off x="8229600" y="1600200"/>
            <a:ext cx="502920" cy="502920"/>
          </a:xfrm>
          <a:prstGeom prst="ellipse">
            <a:avLst/>
          </a:prstGeom>
          <a:solidFill>
            <a:schemeClr val="accent2"/>
          </a:solidFill>
          <a:ln w="6350">
            <a:solidFill>
              <a:schemeClr val="accent2"/>
            </a:solidFill>
            <a:prstDash val="solid"/>
          </a:ln>
        </p:spPr>
      </p:sp>
      <p:pic>
        <p:nvPicPr>
          <p:cNvPr id="12" name="c2-phone-icon" descr="preencoded.png">    </p:cNvPr>
          <p:cNvPicPr>
            <a:picLocks noChangeAspect="1"/>
          </p:cNvPicPr>
          <p:nvPr/>
        </p:nvPicPr>
        <p:blipFill>
          <a:blip r:embed="rId1"/>
          <a:stretch>
            <a:fillRect/>
          </a:stretch>
        </p:blipFill>
        <p:spPr>
          <a:xfrm>
            <a:off x="8350301" y="1720901"/>
            <a:ext cx="261518" cy="261518"/>
          </a:xfrm>
          <a:prstGeom prst="rect">
            <a:avLst/>
          </a:prstGeom>
        </p:spPr>
      </p:pic>
      <p:sp>
        <p:nvSpPr>
          <p:cNvPr id="13" name="Text 10"/>
          <p:cNvSpPr txBox="1"/>
          <p:nvPr/>
        </p:nvSpPr>
        <p:spPr>
          <a:xfrm>
            <a:off x="8869680" y="1627632"/>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Controls that work</a:t>
            </a:r>
            <a:endParaRPr lang="en-US" sz="1800" dirty="0"/>
          </a:p>
        </p:txBody>
      </p:sp>
      <p:sp>
        <p:nvSpPr>
          <p:cNvPr id="14" name="Text 11"/>
          <p:cNvSpPr txBox="1"/>
          <p:nvPr/>
        </p:nvSpPr>
        <p:spPr>
          <a:xfrm>
            <a:off x="8229600" y="2286000"/>
            <a:ext cx="3200400" cy="35661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Call back on a number from your own directory</a:t>
            </a:r>
            <a:endParaRPr lang="en-US" sz="1500" dirty="0"/>
          </a:p>
          <a:p>
            <a:pPr marL="177800" indent="-177800">
              <a:spcAft>
                <a:spcPts val="600"/>
              </a:spcAft>
              <a:buSzPct val="100000"/>
              <a:buChar char="•"/>
            </a:pPr>
            <a:r>
              <a:rPr lang="en-US" sz="1500" dirty="0">
                <a:solidFill>
                  <a:schemeClr val="tx1"/>
                </a:solidFill>
              </a:rPr>
              <a:t>Dual approval and a cooling-off period for payments</a:t>
            </a:r>
            <a:endParaRPr lang="en-US" sz="1500" dirty="0"/>
          </a:p>
          <a:p>
            <a:pPr marL="177800" indent="-177800">
              <a:spcAft>
                <a:spcPts val="600"/>
              </a:spcAft>
              <a:buSzPct val="100000"/>
              <a:buChar char="•"/>
            </a:pPr>
            <a:r>
              <a:rPr lang="en-US" sz="1500" dirty="0">
                <a:solidFill>
                  <a:schemeClr val="tx1"/>
                </a:solidFill>
              </a:rPr>
              <a:t>No password or MFA reset on a voice alone</a:t>
            </a:r>
            <a:endParaRPr lang="en-US" sz="1500" dirty="0"/>
          </a:p>
          <a:p>
            <a:pPr marL="177800" indent="-177800">
              <a:spcAft>
                <a:spcPts val="600"/>
              </a:spcAft>
              <a:buSzPct val="100000"/>
              <a:buChar char="•"/>
            </a:pPr>
            <a:r>
              <a:rPr lang="en-US" sz="1500" dirty="0">
                <a:solidFill>
                  <a:schemeClr val="tx1"/>
                </a:solidFill>
              </a:rPr>
              <a:t>Live ID checks for hires; ship laptops to verified addresses</a:t>
            </a:r>
            <a:endParaRPr lang="en-US" sz="1500" dirty="0"/>
          </a:p>
        </p:txBody>
      </p:sp>
      <p:sp>
        <p:nvSpPr>
          <p:cNvPr id="15"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Hong Kong police via AFP (Feb 2024); Arup CIO, World Economic Forum (Feb 2025); IBM 2026; State Department and FBI alert (31 Jul 2026)</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Malware that asks a model is real but rare</a:t>
            </a:r>
            <a:endParaRPr lang="en-US" sz="3400" dirty="0"/>
          </a:p>
        </p:txBody>
      </p:sp>
      <p:sp>
        <p:nvSpPr>
          <p:cNvPr id="3" name="mal-0"/>
          <p:cNvSpPr/>
          <p:nvPr/>
        </p:nvSpPr>
        <p:spPr>
          <a:xfrm>
            <a:off x="548640" y="1417320"/>
            <a:ext cx="3840480" cy="2103120"/>
          </a:xfrm>
          <a:prstGeom prst="roundRect">
            <a:avLst>
              <a:gd name="adj" fmla="val 5217"/>
            </a:avLst>
          </a:prstGeom>
          <a:solidFill>
            <a:schemeClr val="bg2"/>
          </a:solidFill>
          <a:ln w="9525">
            <a:solidFill>
              <a:schemeClr val="bg2"/>
            </a:solidFill>
            <a:prstDash val="solid"/>
          </a:ln>
        </p:spPr>
      </p:sp>
      <p:sp>
        <p:nvSpPr>
          <p:cNvPr id="4" name="mal-icon-0-circle"/>
          <p:cNvSpPr/>
          <p:nvPr/>
        </p:nvSpPr>
        <p:spPr>
          <a:xfrm>
            <a:off x="777240" y="1645920"/>
            <a:ext cx="548640" cy="548640"/>
          </a:xfrm>
          <a:prstGeom prst="ellipse">
            <a:avLst/>
          </a:prstGeom>
          <a:solidFill>
            <a:schemeClr val="accent1"/>
          </a:solidFill>
          <a:ln w="6350">
            <a:solidFill>
              <a:schemeClr val="accent1"/>
            </a:solidFill>
            <a:prstDash val="solid"/>
          </a:ln>
        </p:spPr>
      </p:sp>
      <p:pic>
        <p:nvPicPr>
          <p:cNvPr id="5" name="mal-icon-0-icon" descr="preencoded.png">    </p:cNvPr>
          <p:cNvPicPr>
            <a:picLocks noChangeAspect="1"/>
          </p:cNvPicPr>
          <p:nvPr/>
        </p:nvPicPr>
        <p:blipFill>
          <a:blip r:embed="rId1"/>
          <a:stretch>
            <a:fillRect/>
          </a:stretch>
        </p:blipFill>
        <p:spPr>
          <a:xfrm>
            <a:off x="908914" y="1777594"/>
            <a:ext cx="285293" cy="285293"/>
          </a:xfrm>
          <a:prstGeom prst="rect">
            <a:avLst/>
          </a:prstGeom>
        </p:spPr>
      </p:pic>
      <p:sp>
        <p:nvSpPr>
          <p:cNvPr id="6" name="Text 3"/>
          <p:cNvSpPr txBox="1"/>
          <p:nvPr/>
        </p:nvSpPr>
        <p:spPr>
          <a:xfrm>
            <a:off x="1463040" y="1618488"/>
            <a:ext cx="2743200" cy="621792"/>
          </a:xfrm>
          <a:prstGeom prst="rect">
            <a:avLst/>
          </a:prstGeom>
          <a:noFill/>
          <a:ln/>
        </p:spPr>
        <p:txBody>
          <a:bodyPr wrap="square" lIns="0" tIns="0" rIns="0" bIns="0" rtlCol="0" anchor="ctr"/>
          <a:lstStyle/>
          <a:p>
            <a:pPr indent="0" marL="0">
              <a:buNone/>
            </a:pPr>
            <a:r>
              <a:rPr lang="en-US" sz="1700" b="1" dirty="0">
                <a:solidFill>
                  <a:schemeClr val="tx1"/>
                </a:solidFill>
              </a:rPr>
              <a:t>Prompt instead of payload</a:t>
            </a:r>
            <a:endParaRPr lang="en-US" sz="1700" dirty="0"/>
          </a:p>
        </p:txBody>
      </p:sp>
      <p:sp>
        <p:nvSpPr>
          <p:cNvPr id="7" name="Text 4"/>
          <p:cNvSpPr txBox="1"/>
          <p:nvPr/>
        </p:nvSpPr>
        <p:spPr>
          <a:xfrm>
            <a:off x="777240" y="2377440"/>
            <a:ext cx="3383280" cy="1005840"/>
          </a:xfrm>
          <a:prstGeom prst="rect">
            <a:avLst/>
          </a:prstGeom>
          <a:noFill/>
          <a:ln/>
        </p:spPr>
        <p:txBody>
          <a:bodyPr wrap="square" lIns="0" tIns="0" rIns="0" bIns="0" rtlCol="0" anchor="t"/>
          <a:lstStyle/>
          <a:p>
            <a:pPr indent="0" marL="0">
              <a:buNone/>
            </a:pPr>
            <a:r>
              <a:rPr lang="en-US" sz="1400" dirty="0">
                <a:solidFill>
                  <a:schemeClr val="tx1"/>
                </a:solidFill>
              </a:rPr>
              <a:t>LAMEHUG (APT28) and PromptLock ship a prompt; the commands exist only at runtime</a:t>
            </a:r>
            <a:endParaRPr lang="en-US" sz="1400" dirty="0"/>
          </a:p>
        </p:txBody>
      </p:sp>
      <p:sp>
        <p:nvSpPr>
          <p:cNvPr id="8" name="mal-1"/>
          <p:cNvSpPr/>
          <p:nvPr/>
        </p:nvSpPr>
        <p:spPr>
          <a:xfrm>
            <a:off x="4617720" y="1417320"/>
            <a:ext cx="3840480" cy="2103120"/>
          </a:xfrm>
          <a:prstGeom prst="roundRect">
            <a:avLst>
              <a:gd name="adj" fmla="val 5217"/>
            </a:avLst>
          </a:prstGeom>
          <a:solidFill>
            <a:schemeClr val="bg2"/>
          </a:solidFill>
          <a:ln w="9525">
            <a:solidFill>
              <a:schemeClr val="bg2"/>
            </a:solidFill>
            <a:prstDash val="solid"/>
          </a:ln>
        </p:spPr>
      </p:sp>
      <p:sp>
        <p:nvSpPr>
          <p:cNvPr id="9" name="mal-icon-1-circle"/>
          <p:cNvSpPr/>
          <p:nvPr/>
        </p:nvSpPr>
        <p:spPr>
          <a:xfrm>
            <a:off x="4846320" y="1645920"/>
            <a:ext cx="548640" cy="548640"/>
          </a:xfrm>
          <a:prstGeom prst="ellipse">
            <a:avLst/>
          </a:prstGeom>
          <a:solidFill>
            <a:schemeClr val="accent1"/>
          </a:solidFill>
          <a:ln w="6350">
            <a:solidFill>
              <a:schemeClr val="accent1"/>
            </a:solidFill>
            <a:prstDash val="solid"/>
          </a:ln>
        </p:spPr>
      </p:sp>
      <p:pic>
        <p:nvPicPr>
          <p:cNvPr id="10" name="mal-icon-1-icon" descr="preencoded.png">    </p:cNvPr>
          <p:cNvPicPr>
            <a:picLocks noChangeAspect="1"/>
          </p:cNvPicPr>
          <p:nvPr/>
        </p:nvPicPr>
        <p:blipFill>
          <a:blip r:embed="rId2"/>
          <a:stretch>
            <a:fillRect/>
          </a:stretch>
        </p:blipFill>
        <p:spPr>
          <a:xfrm>
            <a:off x="4977994" y="1777594"/>
            <a:ext cx="285293" cy="285293"/>
          </a:xfrm>
          <a:prstGeom prst="rect">
            <a:avLst/>
          </a:prstGeom>
        </p:spPr>
      </p:pic>
      <p:sp>
        <p:nvSpPr>
          <p:cNvPr id="11" name="Text 7"/>
          <p:cNvSpPr txBox="1"/>
          <p:nvPr/>
        </p:nvSpPr>
        <p:spPr>
          <a:xfrm>
            <a:off x="5532120" y="1618488"/>
            <a:ext cx="2743200" cy="621792"/>
          </a:xfrm>
          <a:prstGeom prst="rect">
            <a:avLst/>
          </a:prstGeom>
          <a:noFill/>
          <a:ln/>
        </p:spPr>
        <p:txBody>
          <a:bodyPr wrap="square" lIns="0" tIns="0" rIns="0" bIns="0" rtlCol="0" anchor="ctr"/>
          <a:lstStyle/>
          <a:p>
            <a:pPr indent="0" marL="0">
              <a:buNone/>
            </a:pPr>
            <a:r>
              <a:rPr lang="en-US" sz="1700" b="1" dirty="0">
                <a:solidFill>
                  <a:schemeClr val="tx1"/>
                </a:solidFill>
              </a:rPr>
              <a:t>Self-rewriting code</a:t>
            </a:r>
            <a:endParaRPr lang="en-US" sz="1700" dirty="0"/>
          </a:p>
        </p:txBody>
      </p:sp>
      <p:sp>
        <p:nvSpPr>
          <p:cNvPr id="12" name="Text 8"/>
          <p:cNvSpPr txBox="1"/>
          <p:nvPr/>
        </p:nvSpPr>
        <p:spPr>
          <a:xfrm>
            <a:off x="4846320" y="2377440"/>
            <a:ext cx="3383280" cy="1005840"/>
          </a:xfrm>
          <a:prstGeom prst="rect">
            <a:avLst/>
          </a:prstGeom>
          <a:noFill/>
          <a:ln/>
        </p:spPr>
        <p:txBody>
          <a:bodyPr wrap="square" lIns="0" tIns="0" rIns="0" bIns="0" rtlCol="0" anchor="t"/>
          <a:lstStyle/>
          <a:p>
            <a:pPr indent="0" marL="0">
              <a:buNone/>
            </a:pPr>
            <a:r>
              <a:rPr lang="en-US" sz="1400" dirty="0">
                <a:solidFill>
                  <a:schemeClr val="tx1"/>
                </a:solidFill>
              </a:rPr>
              <a:t>PROMPTFLUX asks Gemini to rewrite its own source to evade antivirus</a:t>
            </a:r>
            <a:endParaRPr lang="en-US" sz="1400" dirty="0"/>
          </a:p>
        </p:txBody>
      </p:sp>
      <p:sp>
        <p:nvSpPr>
          <p:cNvPr id="13" name="mal-2"/>
          <p:cNvSpPr/>
          <p:nvPr/>
        </p:nvSpPr>
        <p:spPr>
          <a:xfrm>
            <a:off x="548640" y="3749040"/>
            <a:ext cx="3840480" cy="2103120"/>
          </a:xfrm>
          <a:prstGeom prst="roundRect">
            <a:avLst>
              <a:gd name="adj" fmla="val 5217"/>
            </a:avLst>
          </a:prstGeom>
          <a:solidFill>
            <a:schemeClr val="bg2"/>
          </a:solidFill>
          <a:ln w="9525">
            <a:solidFill>
              <a:schemeClr val="bg2"/>
            </a:solidFill>
            <a:prstDash val="solid"/>
          </a:ln>
        </p:spPr>
      </p:sp>
      <p:sp>
        <p:nvSpPr>
          <p:cNvPr id="14" name="mal-icon-2-circle"/>
          <p:cNvSpPr/>
          <p:nvPr/>
        </p:nvSpPr>
        <p:spPr>
          <a:xfrm>
            <a:off x="777240" y="3977640"/>
            <a:ext cx="548640" cy="548640"/>
          </a:xfrm>
          <a:prstGeom prst="ellipse">
            <a:avLst/>
          </a:prstGeom>
          <a:solidFill>
            <a:schemeClr val="accent1"/>
          </a:solidFill>
          <a:ln w="6350">
            <a:solidFill>
              <a:schemeClr val="accent1"/>
            </a:solidFill>
            <a:prstDash val="solid"/>
          </a:ln>
        </p:spPr>
      </p:sp>
      <p:pic>
        <p:nvPicPr>
          <p:cNvPr id="15" name="mal-icon-2-icon" descr="preencoded.png">    </p:cNvPr>
          <p:cNvPicPr>
            <a:picLocks noChangeAspect="1"/>
          </p:cNvPicPr>
          <p:nvPr/>
        </p:nvPicPr>
        <p:blipFill>
          <a:blip r:embed="rId3"/>
          <a:stretch>
            <a:fillRect/>
          </a:stretch>
        </p:blipFill>
        <p:spPr>
          <a:xfrm>
            <a:off x="908914" y="4109314"/>
            <a:ext cx="285293" cy="285293"/>
          </a:xfrm>
          <a:prstGeom prst="rect">
            <a:avLst/>
          </a:prstGeom>
        </p:spPr>
      </p:pic>
      <p:sp>
        <p:nvSpPr>
          <p:cNvPr id="16" name="Text 11"/>
          <p:cNvSpPr txBox="1"/>
          <p:nvPr/>
        </p:nvSpPr>
        <p:spPr>
          <a:xfrm>
            <a:off x="1463040" y="3950208"/>
            <a:ext cx="2743200" cy="621792"/>
          </a:xfrm>
          <a:prstGeom prst="rect">
            <a:avLst/>
          </a:prstGeom>
          <a:noFill/>
          <a:ln/>
        </p:spPr>
        <p:txBody>
          <a:bodyPr wrap="square" lIns="0" tIns="0" rIns="0" bIns="0" rtlCol="0" anchor="ctr"/>
          <a:lstStyle/>
          <a:p>
            <a:pPr indent="0" marL="0">
              <a:buNone/>
            </a:pPr>
            <a:r>
              <a:rPr lang="en-US" sz="1700" b="1" dirty="0">
                <a:solidFill>
                  <a:schemeClr val="tx1"/>
                </a:solidFill>
              </a:rPr>
              <a:t>Adaptive UI control</a:t>
            </a:r>
            <a:endParaRPr lang="en-US" sz="1700" dirty="0"/>
          </a:p>
        </p:txBody>
      </p:sp>
      <p:sp>
        <p:nvSpPr>
          <p:cNvPr id="17" name="Text 12"/>
          <p:cNvSpPr txBox="1"/>
          <p:nvPr/>
        </p:nvSpPr>
        <p:spPr>
          <a:xfrm>
            <a:off x="777240" y="4709160"/>
            <a:ext cx="3383280" cy="1005840"/>
          </a:xfrm>
          <a:prstGeom prst="rect">
            <a:avLst/>
          </a:prstGeom>
          <a:noFill/>
          <a:ln/>
        </p:spPr>
        <p:txBody>
          <a:bodyPr wrap="square" lIns="0" tIns="0" rIns="0" bIns="0" rtlCol="0" anchor="t"/>
          <a:lstStyle/>
          <a:p>
            <a:pPr indent="0" marL="0">
              <a:buNone/>
            </a:pPr>
            <a:r>
              <a:rPr lang="en-US" sz="1400" dirty="0">
                <a:solidFill>
                  <a:schemeClr val="tx1"/>
                </a:solidFill>
              </a:rPr>
              <a:t>PromptSpy lets Gemini read an Android screen and tap its way to persistence</a:t>
            </a:r>
            <a:endParaRPr lang="en-US" sz="1400" dirty="0"/>
          </a:p>
        </p:txBody>
      </p:sp>
      <p:sp>
        <p:nvSpPr>
          <p:cNvPr id="18" name="mal-3"/>
          <p:cNvSpPr/>
          <p:nvPr/>
        </p:nvSpPr>
        <p:spPr>
          <a:xfrm>
            <a:off x="4617720" y="3749040"/>
            <a:ext cx="3840480" cy="2103120"/>
          </a:xfrm>
          <a:prstGeom prst="roundRect">
            <a:avLst>
              <a:gd name="adj" fmla="val 5217"/>
            </a:avLst>
          </a:prstGeom>
          <a:solidFill>
            <a:schemeClr val="bg2"/>
          </a:solidFill>
          <a:ln w="9525">
            <a:solidFill>
              <a:schemeClr val="bg2"/>
            </a:solidFill>
            <a:prstDash val="solid"/>
          </a:ln>
        </p:spPr>
      </p:sp>
      <p:sp>
        <p:nvSpPr>
          <p:cNvPr id="19" name="mal-icon-3-circle"/>
          <p:cNvSpPr/>
          <p:nvPr/>
        </p:nvSpPr>
        <p:spPr>
          <a:xfrm>
            <a:off x="4846320" y="3977640"/>
            <a:ext cx="548640" cy="548640"/>
          </a:xfrm>
          <a:prstGeom prst="ellipse">
            <a:avLst/>
          </a:prstGeom>
          <a:solidFill>
            <a:schemeClr val="accent1"/>
          </a:solidFill>
          <a:ln w="6350">
            <a:solidFill>
              <a:schemeClr val="accent1"/>
            </a:solidFill>
            <a:prstDash val="solid"/>
          </a:ln>
        </p:spPr>
      </p:sp>
      <p:pic>
        <p:nvPicPr>
          <p:cNvPr id="20" name="mal-icon-3-icon" descr="preencoded.png">    </p:cNvPr>
          <p:cNvPicPr>
            <a:picLocks noChangeAspect="1"/>
          </p:cNvPicPr>
          <p:nvPr/>
        </p:nvPicPr>
        <p:blipFill>
          <a:blip r:embed="rId4"/>
          <a:stretch>
            <a:fillRect/>
          </a:stretch>
        </p:blipFill>
        <p:spPr>
          <a:xfrm>
            <a:off x="4977994" y="4109314"/>
            <a:ext cx="285293" cy="285293"/>
          </a:xfrm>
          <a:prstGeom prst="rect">
            <a:avLst/>
          </a:prstGeom>
        </p:spPr>
      </p:pic>
      <p:sp>
        <p:nvSpPr>
          <p:cNvPr id="21" name="Text 15"/>
          <p:cNvSpPr txBox="1"/>
          <p:nvPr/>
        </p:nvSpPr>
        <p:spPr>
          <a:xfrm>
            <a:off x="5532120" y="3950208"/>
            <a:ext cx="2743200" cy="621792"/>
          </a:xfrm>
          <a:prstGeom prst="rect">
            <a:avLst/>
          </a:prstGeom>
          <a:noFill/>
          <a:ln/>
        </p:spPr>
        <p:txBody>
          <a:bodyPr wrap="square" lIns="0" tIns="0" rIns="0" bIns="0" rtlCol="0" anchor="ctr"/>
          <a:lstStyle/>
          <a:p>
            <a:pPr indent="0" marL="0">
              <a:buNone/>
            </a:pPr>
            <a:r>
              <a:rPr lang="en-US" sz="1700" b="1" dirty="0">
                <a:solidFill>
                  <a:schemeClr val="tx1"/>
                </a:solidFill>
              </a:rPr>
              <a:t>Attacking the defender's AI</a:t>
            </a:r>
            <a:endParaRPr lang="en-US" sz="1700" dirty="0"/>
          </a:p>
        </p:txBody>
      </p:sp>
      <p:sp>
        <p:nvSpPr>
          <p:cNvPr id="22" name="Text 16"/>
          <p:cNvSpPr txBox="1"/>
          <p:nvPr/>
        </p:nvSpPr>
        <p:spPr>
          <a:xfrm>
            <a:off x="4846320" y="4709160"/>
            <a:ext cx="3383280" cy="1005840"/>
          </a:xfrm>
          <a:prstGeom prst="rect">
            <a:avLst/>
          </a:prstGeom>
          <a:noFill/>
          <a:ln/>
        </p:spPr>
        <p:txBody>
          <a:bodyPr wrap="square" lIns="0" tIns="0" rIns="0" bIns="0" rtlCol="0" anchor="t"/>
          <a:lstStyle/>
          <a:p>
            <a:pPr indent="0" marL="0">
              <a:buNone/>
            </a:pPr>
            <a:r>
              <a:rPr lang="en-US" sz="1400" dirty="0">
                <a:solidFill>
                  <a:schemeClr val="tx1"/>
                </a:solidFill>
              </a:rPr>
              <a:t>FRUITSHELL plants prompts for LLM triage; QUIETVAULT turns AI CLIs into secret scanners</a:t>
            </a:r>
            <a:endParaRPr lang="en-US" sz="1400" dirty="0"/>
          </a:p>
        </p:txBody>
      </p:sp>
      <p:sp>
        <p:nvSpPr>
          <p:cNvPr id="23" name="mal-verdict"/>
          <p:cNvSpPr/>
          <p:nvPr/>
        </p:nvSpPr>
        <p:spPr>
          <a:xfrm>
            <a:off x="8823960" y="1417320"/>
            <a:ext cx="2788920" cy="4434840"/>
          </a:xfrm>
          <a:prstGeom prst="roundRect">
            <a:avLst>
              <a:gd name="adj" fmla="val 3934"/>
            </a:avLst>
          </a:prstGeom>
          <a:solidFill>
            <a:schemeClr val="tx2"/>
          </a:solidFill>
          <a:ln w="9525">
            <a:solidFill>
              <a:schemeClr val="tx2"/>
            </a:solidFill>
            <a:prstDash val="solid"/>
          </a:ln>
        </p:spPr>
      </p:sp>
      <p:sp>
        <p:nvSpPr>
          <p:cNvPr id="24" name="Text 18"/>
          <p:cNvSpPr txBox="1"/>
          <p:nvPr/>
        </p:nvSpPr>
        <p:spPr>
          <a:xfrm>
            <a:off x="9052560" y="1645920"/>
            <a:ext cx="2377440" cy="54864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Still rare</a:t>
            </a:r>
            <a:endParaRPr lang="en-US" sz="2600" dirty="0"/>
          </a:p>
        </p:txBody>
      </p:sp>
      <p:sp>
        <p:nvSpPr>
          <p:cNvPr id="25" name="Text 19"/>
          <p:cNvSpPr txBox="1"/>
          <p:nvPr/>
        </p:nvSpPr>
        <p:spPr>
          <a:xfrm>
            <a:off x="9052560" y="2286000"/>
            <a:ext cx="2377440" cy="1463040"/>
          </a:xfrm>
          <a:prstGeom prst="rect">
            <a:avLst/>
          </a:prstGeom>
          <a:noFill/>
          <a:ln/>
        </p:spPr>
        <p:txBody>
          <a:bodyPr wrap="square" lIns="0" tIns="0" rIns="0" bIns="0" rtlCol="0" anchor="t"/>
          <a:lstStyle/>
          <a:p>
            <a:pPr indent="0" marL="0">
              <a:buNone/>
            </a:pPr>
            <a:r>
              <a:rPr lang="en-US" sz="1500" dirty="0">
                <a:solidFill>
                  <a:schemeClr val="bg1"/>
                </a:solidFill>
              </a:rPr>
              <a:t>ESET calls AI-powered malware "still rare" and credits model guardrails with slowing adoption.</a:t>
            </a:r>
            <a:endParaRPr lang="en-US" sz="1500" dirty="0"/>
          </a:p>
        </p:txBody>
      </p:sp>
      <p:sp>
        <p:nvSpPr>
          <p:cNvPr id="26" name="Text 20"/>
          <p:cNvSpPr txBox="1"/>
          <p:nvPr/>
        </p:nvSpPr>
        <p:spPr>
          <a:xfrm>
            <a:off x="9052560" y="3840480"/>
            <a:ext cx="2377440" cy="1463040"/>
          </a:xfrm>
          <a:prstGeom prst="rect">
            <a:avLst/>
          </a:prstGeom>
          <a:noFill/>
          <a:ln/>
        </p:spPr>
        <p:txBody>
          <a:bodyPr wrap="square" lIns="0" tIns="0" rIns="0" bIns="0" rtlCol="0" anchor="t"/>
          <a:lstStyle/>
          <a:p>
            <a:pPr indent="0" marL="0">
              <a:buNone/>
            </a:pPr>
            <a:r>
              <a:rPr lang="en-US" sz="1500" b="1" dirty="0">
                <a:solidFill>
                  <a:schemeClr val="accent3"/>
                </a:solidFill>
              </a:rPr>
              <a:t>Watch egress to model APIs and unexpected local model runtimes.</a:t>
            </a:r>
            <a:endParaRPr lang="en-US" sz="1500" dirty="0"/>
          </a:p>
        </p:txBody>
      </p:sp>
      <p:sp>
        <p:nvSpPr>
          <p:cNvPr id="27"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Google Threat Intelligence Group (Nov 2025); ESET (Feb and Jul 2026); CERT-UA via BleepingComputer (Jul 2025)</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Private data, untrusted input, a way out</a:t>
            </a:r>
            <a:endParaRPr lang="en-US" sz="3400" dirty="0"/>
          </a:p>
        </p:txBody>
      </p:sp>
      <p:sp>
        <p:nvSpPr>
          <p:cNvPr id="3" name="trifecta-0"/>
          <p:cNvSpPr/>
          <p:nvPr/>
        </p:nvSpPr>
        <p:spPr>
          <a:xfrm>
            <a:off x="914400" y="1600200"/>
            <a:ext cx="2468880" cy="2468880"/>
          </a:xfrm>
          <a:prstGeom prst="ellipse">
            <a:avLst/>
          </a:prstGeom>
          <a:solidFill>
            <a:schemeClr val="accent2">
              <a:alpha val="45000"/>
            </a:schemeClr>
          </a:solidFill>
          <a:ln w="19050">
            <a:solidFill>
              <a:schemeClr val="accent2"/>
            </a:solidFill>
            <a:prstDash val="solid"/>
          </a:ln>
        </p:spPr>
      </p:sp>
      <p:sp>
        <p:nvSpPr>
          <p:cNvPr id="4" name="trifecta-1"/>
          <p:cNvSpPr/>
          <p:nvPr/>
        </p:nvSpPr>
        <p:spPr>
          <a:xfrm>
            <a:off x="2743200" y="1600200"/>
            <a:ext cx="2468880" cy="2468880"/>
          </a:xfrm>
          <a:prstGeom prst="ellipse">
            <a:avLst/>
          </a:prstGeom>
          <a:solidFill>
            <a:schemeClr val="accent1">
              <a:alpha val="45000"/>
            </a:schemeClr>
          </a:solidFill>
          <a:ln w="19050">
            <a:solidFill>
              <a:schemeClr val="accent1"/>
            </a:solidFill>
            <a:prstDash val="solid"/>
          </a:ln>
        </p:spPr>
      </p:sp>
      <p:sp>
        <p:nvSpPr>
          <p:cNvPr id="5" name="trifecta-2"/>
          <p:cNvSpPr/>
          <p:nvPr/>
        </p:nvSpPr>
        <p:spPr>
          <a:xfrm>
            <a:off x="1828800" y="3154680"/>
            <a:ext cx="2468880" cy="2468880"/>
          </a:xfrm>
          <a:prstGeom prst="ellipse">
            <a:avLst/>
          </a:prstGeom>
          <a:solidFill>
            <a:schemeClr val="accent3">
              <a:alpha val="45000"/>
            </a:schemeClr>
          </a:solidFill>
          <a:ln w="19050">
            <a:solidFill>
              <a:schemeClr val="accent3"/>
            </a:solidFill>
            <a:prstDash val="solid"/>
          </a:ln>
        </p:spPr>
      </p:sp>
      <p:sp>
        <p:nvSpPr>
          <p:cNvPr id="6" name="Text 4"/>
          <p:cNvSpPr txBox="1"/>
          <p:nvPr/>
        </p:nvSpPr>
        <p:spPr>
          <a:xfrm>
            <a:off x="1051560" y="2148840"/>
            <a:ext cx="1463040" cy="548640"/>
          </a:xfrm>
          <a:prstGeom prst="rect">
            <a:avLst/>
          </a:prstGeom>
          <a:noFill/>
          <a:ln/>
        </p:spPr>
        <p:txBody>
          <a:bodyPr wrap="square" lIns="0" tIns="0" rIns="0" bIns="0" rtlCol="0" anchor="t"/>
          <a:lstStyle/>
          <a:p>
            <a:pPr algn="ctr" indent="0" marL="0">
              <a:buNone/>
            </a:pPr>
            <a:r>
              <a:rPr lang="en-US" sz="1500" b="1" dirty="0">
                <a:solidFill>
                  <a:schemeClr val="tx1"/>
                </a:solidFill>
              </a:rPr>
              <a:t>Private data</a:t>
            </a:r>
            <a:endParaRPr lang="en-US" sz="1500" dirty="0"/>
          </a:p>
        </p:txBody>
      </p:sp>
      <p:sp>
        <p:nvSpPr>
          <p:cNvPr id="7" name="Text 5"/>
          <p:cNvSpPr txBox="1"/>
          <p:nvPr/>
        </p:nvSpPr>
        <p:spPr>
          <a:xfrm>
            <a:off x="3886200" y="2103120"/>
            <a:ext cx="1143000" cy="594360"/>
          </a:xfrm>
          <a:prstGeom prst="rect">
            <a:avLst/>
          </a:prstGeom>
          <a:noFill/>
          <a:ln/>
        </p:spPr>
        <p:txBody>
          <a:bodyPr wrap="square" lIns="0" tIns="0" rIns="0" bIns="0" rtlCol="0" anchor="t"/>
          <a:lstStyle/>
          <a:p>
            <a:pPr algn="ctr" indent="0" marL="0">
              <a:buNone/>
            </a:pPr>
            <a:r>
              <a:rPr lang="en-US" sz="1500" b="1" dirty="0">
                <a:solidFill>
                  <a:schemeClr val="tx1"/>
                </a:solidFill>
              </a:rPr>
              <a:t>Untrusted input</a:t>
            </a:r>
            <a:endParaRPr lang="en-US" sz="1500" dirty="0"/>
          </a:p>
        </p:txBody>
      </p:sp>
      <p:sp>
        <p:nvSpPr>
          <p:cNvPr id="8" name="Text 6"/>
          <p:cNvSpPr txBox="1"/>
          <p:nvPr/>
        </p:nvSpPr>
        <p:spPr>
          <a:xfrm>
            <a:off x="2286000" y="4800600"/>
            <a:ext cx="1554480" cy="548640"/>
          </a:xfrm>
          <a:prstGeom prst="rect">
            <a:avLst/>
          </a:prstGeom>
          <a:noFill/>
          <a:ln/>
        </p:spPr>
        <p:txBody>
          <a:bodyPr wrap="square" lIns="0" tIns="0" rIns="0" bIns="0" rtlCol="0" anchor="t"/>
          <a:lstStyle/>
          <a:p>
            <a:pPr algn="ctr" indent="0" marL="0">
              <a:buNone/>
            </a:pPr>
            <a:r>
              <a:rPr lang="en-US" sz="1500" b="1" dirty="0">
                <a:solidFill>
                  <a:schemeClr val="tx1"/>
                </a:solidFill>
              </a:rPr>
              <a:t>A way to send data out</a:t>
            </a:r>
            <a:endParaRPr lang="en-US" sz="1500" dirty="0"/>
          </a:p>
        </p:txBody>
      </p:sp>
      <p:sp>
        <p:nvSpPr>
          <p:cNvPr id="9" name="Text 7"/>
          <p:cNvSpPr txBox="1"/>
          <p:nvPr/>
        </p:nvSpPr>
        <p:spPr>
          <a:xfrm>
            <a:off x="2606040" y="3246120"/>
            <a:ext cx="914400" cy="365760"/>
          </a:xfrm>
          <a:prstGeom prst="rect">
            <a:avLst/>
          </a:prstGeom>
          <a:noFill/>
          <a:ln/>
        </p:spPr>
        <p:txBody>
          <a:bodyPr wrap="square" lIns="0" tIns="0" rIns="0" bIns="0" rtlCol="0" anchor="t"/>
          <a:lstStyle/>
          <a:p>
            <a:pPr algn="ctr" indent="0" marL="0">
              <a:buNone/>
            </a:pPr>
            <a:r>
              <a:rPr lang="en-US" sz="1600" b="1" dirty="0">
                <a:solidFill>
                  <a:schemeClr val="tx1"/>
                </a:solidFill>
              </a:rPr>
              <a:t>Hijack</a:t>
            </a:r>
            <a:endParaRPr lang="en-US" sz="1600" dirty="0"/>
          </a:p>
        </p:txBody>
      </p:sp>
      <p:sp>
        <p:nvSpPr>
          <p:cNvPr id="10" name="Text 8"/>
          <p:cNvSpPr txBox="1"/>
          <p:nvPr/>
        </p:nvSpPr>
        <p:spPr>
          <a:xfrm>
            <a:off x="6035040" y="1463040"/>
            <a:ext cx="5577840" cy="365760"/>
          </a:xfrm>
          <a:prstGeom prst="rect">
            <a:avLst/>
          </a:prstGeom>
          <a:noFill/>
          <a:ln/>
        </p:spPr>
        <p:txBody>
          <a:bodyPr wrap="square" lIns="0" tIns="0" rIns="0" bIns="0" rtlCol="0" anchor="t"/>
          <a:lstStyle/>
          <a:p>
            <a:pPr indent="0" marL="0">
              <a:buNone/>
            </a:pPr>
            <a:r>
              <a:rPr lang="en-US" sz="1600" b="1" dirty="0">
                <a:solidFill>
                  <a:schemeClr val="tx1"/>
                </a:solidFill>
              </a:rPr>
              <a:t>EchoLeak, Microsoft 365 Copilot</a:t>
            </a:r>
            <a:endParaRPr lang="en-US" sz="1600" dirty="0"/>
          </a:p>
        </p:txBody>
      </p:sp>
      <p:sp>
        <p:nvSpPr>
          <p:cNvPr id="11" name="Text 9"/>
          <p:cNvSpPr txBox="1"/>
          <p:nvPr/>
        </p:nvSpPr>
        <p:spPr>
          <a:xfrm>
            <a:off x="6035040" y="1828800"/>
            <a:ext cx="5577840" cy="457200"/>
          </a:xfrm>
          <a:prstGeom prst="rect">
            <a:avLst/>
          </a:prstGeom>
          <a:noFill/>
          <a:ln/>
        </p:spPr>
        <p:txBody>
          <a:bodyPr wrap="square" lIns="0" tIns="0" rIns="0" bIns="0" rtlCol="0" anchor="t"/>
          <a:lstStyle/>
          <a:p>
            <a:pPr indent="0" marL="0">
              <a:buNone/>
            </a:pPr>
            <a:r>
              <a:rPr lang="en-US" sz="1400" dirty="0">
                <a:solidFill>
                  <a:schemeClr val="tx1"/>
                </a:solidFill>
              </a:rPr>
              <a:t>One email leaked data with no click (CVSS 9.3)</a:t>
            </a:r>
            <a:endParaRPr lang="en-US" sz="1400" dirty="0"/>
          </a:p>
        </p:txBody>
      </p:sp>
      <p:sp>
        <p:nvSpPr>
          <p:cNvPr id="12" name="Text 10"/>
          <p:cNvSpPr txBox="1"/>
          <p:nvPr/>
        </p:nvSpPr>
        <p:spPr>
          <a:xfrm>
            <a:off x="6035040" y="2423160"/>
            <a:ext cx="5577840" cy="365760"/>
          </a:xfrm>
          <a:prstGeom prst="rect">
            <a:avLst/>
          </a:prstGeom>
          <a:noFill/>
          <a:ln/>
        </p:spPr>
        <p:txBody>
          <a:bodyPr wrap="square" lIns="0" tIns="0" rIns="0" bIns="0" rtlCol="0" anchor="t"/>
          <a:lstStyle/>
          <a:p>
            <a:pPr indent="0" marL="0">
              <a:buNone/>
            </a:pPr>
            <a:r>
              <a:rPr lang="en-US" sz="1600" b="1" dirty="0">
                <a:solidFill>
                  <a:schemeClr val="tx1"/>
                </a:solidFill>
              </a:rPr>
              <a:t>ForcedLeak, Salesforce Agentforce</a:t>
            </a:r>
            <a:endParaRPr lang="en-US" sz="1600" dirty="0"/>
          </a:p>
        </p:txBody>
      </p:sp>
      <p:sp>
        <p:nvSpPr>
          <p:cNvPr id="13" name="Text 11"/>
          <p:cNvSpPr txBox="1"/>
          <p:nvPr/>
        </p:nvSpPr>
        <p:spPr>
          <a:xfrm>
            <a:off x="6035040" y="2788920"/>
            <a:ext cx="5577840" cy="457200"/>
          </a:xfrm>
          <a:prstGeom prst="rect">
            <a:avLst/>
          </a:prstGeom>
          <a:noFill/>
          <a:ln/>
        </p:spPr>
        <p:txBody>
          <a:bodyPr wrap="square" lIns="0" tIns="0" rIns="0" bIns="0" rtlCol="0" anchor="t"/>
          <a:lstStyle/>
          <a:p>
            <a:pPr indent="0" marL="0">
              <a:buNone/>
            </a:pPr>
            <a:r>
              <a:rPr lang="en-US" sz="1400" dirty="0">
                <a:solidFill>
                  <a:schemeClr val="tx1"/>
                </a:solidFill>
              </a:rPr>
              <a:t>A web form exfiltrated CRM data via a $5 expired domain (CVSS 9.4)</a:t>
            </a:r>
            <a:endParaRPr lang="en-US" sz="1400" dirty="0"/>
          </a:p>
        </p:txBody>
      </p:sp>
      <p:sp>
        <p:nvSpPr>
          <p:cNvPr id="14" name="Text 12"/>
          <p:cNvSpPr txBox="1"/>
          <p:nvPr/>
        </p:nvSpPr>
        <p:spPr>
          <a:xfrm>
            <a:off x="6035040" y="3383280"/>
            <a:ext cx="5577840" cy="365760"/>
          </a:xfrm>
          <a:prstGeom prst="rect">
            <a:avLst/>
          </a:prstGeom>
          <a:noFill/>
          <a:ln/>
        </p:spPr>
        <p:txBody>
          <a:bodyPr wrap="square" lIns="0" tIns="0" rIns="0" bIns="0" rtlCol="0" anchor="t"/>
          <a:lstStyle/>
          <a:p>
            <a:pPr indent="0" marL="0">
              <a:buNone/>
            </a:pPr>
            <a:r>
              <a:rPr lang="en-US" sz="1600" b="1" dirty="0">
                <a:solidFill>
                  <a:schemeClr val="tx1"/>
                </a:solidFill>
              </a:rPr>
              <a:t>Perplexity Comet</a:t>
            </a:r>
            <a:endParaRPr lang="en-US" sz="1600" dirty="0"/>
          </a:p>
        </p:txBody>
      </p:sp>
      <p:sp>
        <p:nvSpPr>
          <p:cNvPr id="15" name="Text 13"/>
          <p:cNvSpPr txBox="1"/>
          <p:nvPr/>
        </p:nvSpPr>
        <p:spPr>
          <a:xfrm>
            <a:off x="6035040" y="3749040"/>
            <a:ext cx="5577840" cy="457200"/>
          </a:xfrm>
          <a:prstGeom prst="rect">
            <a:avLst/>
          </a:prstGeom>
          <a:noFill/>
          <a:ln/>
        </p:spPr>
        <p:txBody>
          <a:bodyPr wrap="square" lIns="0" tIns="0" rIns="0" bIns="0" rtlCol="0" anchor="t"/>
          <a:lstStyle/>
          <a:p>
            <a:pPr indent="0" marL="0">
              <a:buNone/>
            </a:pPr>
            <a:r>
              <a:rPr lang="en-US" sz="1400" dirty="0">
                <a:solidFill>
                  <a:schemeClr val="tx1"/>
                </a:solidFill>
              </a:rPr>
              <a:t>Hidden Reddit text stole a login code from Gmail</a:t>
            </a:r>
            <a:endParaRPr lang="en-US" sz="1400" dirty="0"/>
          </a:p>
        </p:txBody>
      </p:sp>
      <p:sp>
        <p:nvSpPr>
          <p:cNvPr id="16" name="Text 14"/>
          <p:cNvSpPr txBox="1"/>
          <p:nvPr/>
        </p:nvSpPr>
        <p:spPr>
          <a:xfrm>
            <a:off x="6035040" y="4343400"/>
            <a:ext cx="5577840" cy="365760"/>
          </a:xfrm>
          <a:prstGeom prst="rect">
            <a:avLst/>
          </a:prstGeom>
          <a:noFill/>
          <a:ln/>
        </p:spPr>
        <p:txBody>
          <a:bodyPr wrap="square" lIns="0" tIns="0" rIns="0" bIns="0" rtlCol="0" anchor="t"/>
          <a:lstStyle/>
          <a:p>
            <a:pPr indent="0" marL="0">
              <a:buNone/>
            </a:pPr>
            <a:r>
              <a:rPr lang="en-US" sz="1600" b="1" dirty="0">
                <a:solidFill>
                  <a:schemeClr val="tx1"/>
                </a:solidFill>
              </a:rPr>
              <a:t>The open web</a:t>
            </a:r>
            <a:endParaRPr lang="en-US" sz="1600" dirty="0"/>
          </a:p>
        </p:txBody>
      </p:sp>
      <p:sp>
        <p:nvSpPr>
          <p:cNvPr id="17" name="Text 15"/>
          <p:cNvSpPr txBox="1"/>
          <p:nvPr/>
        </p:nvSpPr>
        <p:spPr>
          <a:xfrm>
            <a:off x="6035040" y="4709160"/>
            <a:ext cx="5577840" cy="457200"/>
          </a:xfrm>
          <a:prstGeom prst="rect">
            <a:avLst/>
          </a:prstGeom>
          <a:noFill/>
          <a:ln/>
        </p:spPr>
        <p:txBody>
          <a:bodyPr wrap="square" lIns="0" tIns="0" rIns="0" bIns="0" rtlCol="0" anchor="t"/>
          <a:lstStyle/>
          <a:p>
            <a:pPr indent="0" marL="0">
              <a:buNone/>
            </a:pPr>
            <a:r>
              <a:rPr lang="en-US" sz="1400" dirty="0">
                <a:solidFill>
                  <a:schemeClr val="tx1"/>
                </a:solidFill>
              </a:rPr>
              <a:t>Malicious injections up 32% in three months (Google)</a:t>
            </a:r>
            <a:endParaRPr lang="en-US" sz="1400" dirty="0"/>
          </a:p>
        </p:txBody>
      </p:sp>
      <p:sp>
        <p:nvSpPr>
          <p:cNvPr id="18" name="rule-of-two"/>
          <p:cNvSpPr/>
          <p:nvPr/>
        </p:nvSpPr>
        <p:spPr>
          <a:xfrm>
            <a:off x="6035040" y="5303520"/>
            <a:ext cx="5577840" cy="731520"/>
          </a:xfrm>
          <a:prstGeom prst="roundRect">
            <a:avLst>
              <a:gd name="adj" fmla="val 15000"/>
            </a:avLst>
          </a:prstGeom>
          <a:solidFill>
            <a:schemeClr val="tx2"/>
          </a:solidFill>
          <a:ln w="9525">
            <a:solidFill>
              <a:schemeClr val="tx2"/>
            </a:solidFill>
            <a:prstDash val="solid"/>
          </a:ln>
        </p:spPr>
      </p:sp>
      <p:sp>
        <p:nvSpPr>
          <p:cNvPr id="19" name="Text 17"/>
          <p:cNvSpPr txBox="1"/>
          <p:nvPr/>
        </p:nvSpPr>
        <p:spPr>
          <a:xfrm>
            <a:off x="6263640" y="5321808"/>
            <a:ext cx="5212080" cy="685800"/>
          </a:xfrm>
          <a:prstGeom prst="rect">
            <a:avLst/>
          </a:prstGeom>
          <a:noFill/>
          <a:ln/>
        </p:spPr>
        <p:txBody>
          <a:bodyPr wrap="square" lIns="0" tIns="0" rIns="0" bIns="0" rtlCol="0" anchor="ctr"/>
          <a:lstStyle/>
          <a:p>
            <a:pPr indent="0" marL="0">
              <a:buNone/>
            </a:pPr>
            <a:r>
              <a:rPr lang="en-US" sz="1500" b="1" dirty="0">
                <a:solidFill>
                  <a:schemeClr val="bg1"/>
                </a:solidFill>
              </a:rPr>
              <a:t>Rule of Two: without a human gate, an agent holds at most two of the three</a:t>
            </a:r>
            <a:endParaRPr lang="en-US" sz="1500" dirty="0"/>
          </a:p>
        </p:txBody>
      </p:sp>
      <p:sp>
        <p:nvSpPr>
          <p:cNvPr id="20"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Simon Willison, "lethal trifecta" (Jun 2025); Aim Security, Noma, Brave (2025); Google (Apr 2026)</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The AI toolchain is the new supply chain</a:t>
            </a:r>
            <a:endParaRPr lang="en-US" sz="3400" dirty="0"/>
          </a:p>
        </p:txBody>
      </p:sp>
      <p:sp>
        <p:nvSpPr>
          <p:cNvPr id="3" name="sc-0"/>
          <p:cNvSpPr/>
          <p:nvPr/>
        </p:nvSpPr>
        <p:spPr>
          <a:xfrm>
            <a:off x="548640" y="1417320"/>
            <a:ext cx="2606040" cy="2743200"/>
          </a:xfrm>
          <a:prstGeom prst="roundRect">
            <a:avLst>
              <a:gd name="adj" fmla="val 4211"/>
            </a:avLst>
          </a:prstGeom>
          <a:solidFill>
            <a:schemeClr val="bg2"/>
          </a:solidFill>
          <a:ln w="9525">
            <a:solidFill>
              <a:schemeClr val="bg2"/>
            </a:solidFill>
            <a:prstDash val="solid"/>
          </a:ln>
        </p:spPr>
      </p:sp>
      <p:sp>
        <p:nvSpPr>
          <p:cNvPr id="4" name="sc-icon-0-circle"/>
          <p:cNvSpPr/>
          <p:nvPr/>
        </p:nvSpPr>
        <p:spPr>
          <a:xfrm>
            <a:off x="777240" y="1645920"/>
            <a:ext cx="548640" cy="548640"/>
          </a:xfrm>
          <a:prstGeom prst="ellipse">
            <a:avLst/>
          </a:prstGeom>
          <a:solidFill>
            <a:schemeClr val="accent3"/>
          </a:solidFill>
          <a:ln w="6350">
            <a:solidFill>
              <a:schemeClr val="accent3"/>
            </a:solidFill>
            <a:prstDash val="solid"/>
          </a:ln>
        </p:spPr>
      </p:sp>
      <p:pic>
        <p:nvPicPr>
          <p:cNvPr id="5" name="sc-icon-0-icon" descr="preencoded.png">    </p:cNvPr>
          <p:cNvPicPr>
            <a:picLocks noChangeAspect="1"/>
          </p:cNvPicPr>
          <p:nvPr/>
        </p:nvPicPr>
        <p:blipFill>
          <a:blip r:embed="rId1"/>
          <a:stretch>
            <a:fillRect/>
          </a:stretch>
        </p:blipFill>
        <p:spPr>
          <a:xfrm>
            <a:off x="908914" y="1777594"/>
            <a:ext cx="285293" cy="285293"/>
          </a:xfrm>
          <a:prstGeom prst="rect">
            <a:avLst/>
          </a:prstGeom>
        </p:spPr>
      </p:pic>
      <p:sp>
        <p:nvSpPr>
          <p:cNvPr id="6" name="Text 3"/>
          <p:cNvSpPr txBox="1"/>
          <p:nvPr/>
        </p:nvSpPr>
        <p:spPr>
          <a:xfrm>
            <a:off x="777240" y="2331720"/>
            <a:ext cx="2194560" cy="411480"/>
          </a:xfrm>
          <a:prstGeom prst="rect">
            <a:avLst/>
          </a:prstGeom>
          <a:noFill/>
          <a:ln/>
        </p:spPr>
        <p:txBody>
          <a:bodyPr wrap="square" lIns="0" tIns="0" rIns="0" bIns="0" rtlCol="0" anchor="t"/>
          <a:lstStyle/>
          <a:p>
            <a:pPr indent="0" marL="0">
              <a:buNone/>
            </a:pPr>
            <a:r>
              <a:rPr lang="en-US" sz="1600" b="1" dirty="0">
                <a:solidFill>
                  <a:schemeClr val="tx1"/>
                </a:solidFill>
              </a:rPr>
              <a:t>s1ngularity (Nx)</a:t>
            </a:r>
            <a:endParaRPr lang="en-US" sz="1600" dirty="0"/>
          </a:p>
        </p:txBody>
      </p:sp>
      <p:sp>
        <p:nvSpPr>
          <p:cNvPr id="7" name="Text 4"/>
          <p:cNvSpPr txBox="1"/>
          <p:nvPr/>
        </p:nvSpPr>
        <p:spPr>
          <a:xfrm>
            <a:off x="777240" y="2724912"/>
            <a:ext cx="2194560" cy="274320"/>
          </a:xfrm>
          <a:prstGeom prst="rect">
            <a:avLst/>
          </a:prstGeom>
          <a:noFill/>
          <a:ln/>
        </p:spPr>
        <p:txBody>
          <a:bodyPr wrap="square" lIns="0" tIns="0" rIns="0" bIns="0" rtlCol="0" anchor="t"/>
          <a:lstStyle/>
          <a:p>
            <a:pPr indent="0" marL="0">
              <a:buNone/>
            </a:pPr>
            <a:r>
              <a:rPr lang="en-US" sz="1200" b="1" dirty="0">
                <a:solidFill>
                  <a:schemeClr val="accent4"/>
                </a:solidFill>
              </a:rPr>
              <a:t>Aug 2025</a:t>
            </a:r>
            <a:endParaRPr lang="en-US" sz="1200" dirty="0"/>
          </a:p>
        </p:txBody>
      </p:sp>
      <p:sp>
        <p:nvSpPr>
          <p:cNvPr id="8" name="Text 5"/>
          <p:cNvSpPr txBox="1"/>
          <p:nvPr/>
        </p:nvSpPr>
        <p:spPr>
          <a:xfrm>
            <a:off x="777240" y="3063240"/>
            <a:ext cx="2194560" cy="1417320"/>
          </a:xfrm>
          <a:prstGeom prst="rect">
            <a:avLst/>
          </a:prstGeom>
          <a:noFill/>
          <a:ln/>
        </p:spPr>
        <p:txBody>
          <a:bodyPr wrap="square" lIns="0" tIns="0" rIns="0" bIns="0" rtlCol="0" anchor="t"/>
          <a:lstStyle/>
          <a:p>
            <a:pPr indent="0" marL="0">
              <a:buNone/>
            </a:pPr>
            <a:r>
              <a:rPr lang="en-US" sz="1400" dirty="0">
                <a:solidFill>
                  <a:schemeClr val="tx1"/>
                </a:solidFill>
              </a:rPr>
              <a:t>Ran victims' own AI CLIs with permission checks off to hunt secrets: 2,349 leaked</a:t>
            </a:r>
            <a:endParaRPr lang="en-US" sz="1400" dirty="0"/>
          </a:p>
        </p:txBody>
      </p:sp>
      <p:sp>
        <p:nvSpPr>
          <p:cNvPr id="9" name="sc-1"/>
          <p:cNvSpPr/>
          <p:nvPr/>
        </p:nvSpPr>
        <p:spPr>
          <a:xfrm>
            <a:off x="3383280" y="1417320"/>
            <a:ext cx="2606040" cy="2743200"/>
          </a:xfrm>
          <a:prstGeom prst="roundRect">
            <a:avLst>
              <a:gd name="adj" fmla="val 4211"/>
            </a:avLst>
          </a:prstGeom>
          <a:solidFill>
            <a:schemeClr val="bg2"/>
          </a:solidFill>
          <a:ln w="9525">
            <a:solidFill>
              <a:schemeClr val="bg2"/>
            </a:solidFill>
            <a:prstDash val="solid"/>
          </a:ln>
        </p:spPr>
      </p:sp>
      <p:sp>
        <p:nvSpPr>
          <p:cNvPr id="10" name="sc-icon-1-circle"/>
          <p:cNvSpPr/>
          <p:nvPr/>
        </p:nvSpPr>
        <p:spPr>
          <a:xfrm>
            <a:off x="3611880" y="1645920"/>
            <a:ext cx="548640" cy="548640"/>
          </a:xfrm>
          <a:prstGeom prst="ellipse">
            <a:avLst/>
          </a:prstGeom>
          <a:solidFill>
            <a:schemeClr val="accent3"/>
          </a:solidFill>
          <a:ln w="6350">
            <a:solidFill>
              <a:schemeClr val="accent3"/>
            </a:solidFill>
            <a:prstDash val="solid"/>
          </a:ln>
        </p:spPr>
      </p:sp>
      <p:pic>
        <p:nvPicPr>
          <p:cNvPr id="11" name="sc-icon-1-icon" descr="preencoded.png">    </p:cNvPr>
          <p:cNvPicPr>
            <a:picLocks noChangeAspect="1"/>
          </p:cNvPicPr>
          <p:nvPr/>
        </p:nvPicPr>
        <p:blipFill>
          <a:blip r:embed="rId2"/>
          <a:stretch>
            <a:fillRect/>
          </a:stretch>
        </p:blipFill>
        <p:spPr>
          <a:xfrm>
            <a:off x="3743554" y="1777594"/>
            <a:ext cx="285293" cy="285293"/>
          </a:xfrm>
          <a:prstGeom prst="rect">
            <a:avLst/>
          </a:prstGeom>
        </p:spPr>
      </p:pic>
      <p:sp>
        <p:nvSpPr>
          <p:cNvPr id="12" name="Text 8"/>
          <p:cNvSpPr txBox="1"/>
          <p:nvPr/>
        </p:nvSpPr>
        <p:spPr>
          <a:xfrm>
            <a:off x="3611880" y="2331720"/>
            <a:ext cx="2194560" cy="411480"/>
          </a:xfrm>
          <a:prstGeom prst="rect">
            <a:avLst/>
          </a:prstGeom>
          <a:noFill/>
          <a:ln/>
        </p:spPr>
        <p:txBody>
          <a:bodyPr wrap="square" lIns="0" tIns="0" rIns="0" bIns="0" rtlCol="0" anchor="t"/>
          <a:lstStyle/>
          <a:p>
            <a:pPr indent="0" marL="0">
              <a:buNone/>
            </a:pPr>
            <a:r>
              <a:rPr lang="en-US" sz="1600" b="1" dirty="0">
                <a:solidFill>
                  <a:schemeClr val="tx1"/>
                </a:solidFill>
              </a:rPr>
              <a:t>LiteLLM backdoor</a:t>
            </a:r>
            <a:endParaRPr lang="en-US" sz="1600" dirty="0"/>
          </a:p>
        </p:txBody>
      </p:sp>
      <p:sp>
        <p:nvSpPr>
          <p:cNvPr id="13" name="Text 9"/>
          <p:cNvSpPr txBox="1"/>
          <p:nvPr/>
        </p:nvSpPr>
        <p:spPr>
          <a:xfrm>
            <a:off x="3611880" y="2724912"/>
            <a:ext cx="2194560" cy="274320"/>
          </a:xfrm>
          <a:prstGeom prst="rect">
            <a:avLst/>
          </a:prstGeom>
          <a:noFill/>
          <a:ln/>
        </p:spPr>
        <p:txBody>
          <a:bodyPr wrap="square" lIns="0" tIns="0" rIns="0" bIns="0" rtlCol="0" anchor="t"/>
          <a:lstStyle/>
          <a:p>
            <a:pPr indent="0" marL="0">
              <a:buNone/>
            </a:pPr>
            <a:r>
              <a:rPr lang="en-US" sz="1200" b="1" dirty="0">
                <a:solidFill>
                  <a:schemeClr val="accent4"/>
                </a:solidFill>
              </a:rPr>
              <a:t>Mar 2026</a:t>
            </a:r>
            <a:endParaRPr lang="en-US" sz="1200" dirty="0"/>
          </a:p>
        </p:txBody>
      </p:sp>
      <p:sp>
        <p:nvSpPr>
          <p:cNvPr id="14" name="Text 10"/>
          <p:cNvSpPr txBox="1"/>
          <p:nvPr/>
        </p:nvSpPr>
        <p:spPr>
          <a:xfrm>
            <a:off x="3611880" y="3063240"/>
            <a:ext cx="2194560" cy="1417320"/>
          </a:xfrm>
          <a:prstGeom prst="rect">
            <a:avLst/>
          </a:prstGeom>
          <a:noFill/>
          <a:ln/>
        </p:spPr>
        <p:txBody>
          <a:bodyPr wrap="square" lIns="0" tIns="0" rIns="0" bIns="0" rtlCol="0" anchor="t"/>
          <a:lstStyle/>
          <a:p>
            <a:pPr indent="0" marL="0">
              <a:buNone/>
            </a:pPr>
            <a:r>
              <a:rPr lang="en-US" sz="1400" dirty="0">
                <a:solidFill>
                  <a:schemeClr val="tx1"/>
                </a:solidFill>
              </a:rPr>
              <a:t>TeamPCP (Google: UNC6780) stole a PyPI token via a poisoned Trivy action</a:t>
            </a:r>
            <a:endParaRPr lang="en-US" sz="1400" dirty="0"/>
          </a:p>
        </p:txBody>
      </p:sp>
      <p:sp>
        <p:nvSpPr>
          <p:cNvPr id="15" name="sc-2"/>
          <p:cNvSpPr/>
          <p:nvPr/>
        </p:nvSpPr>
        <p:spPr>
          <a:xfrm>
            <a:off x="6217920" y="1417320"/>
            <a:ext cx="2606040" cy="2743200"/>
          </a:xfrm>
          <a:prstGeom prst="roundRect">
            <a:avLst>
              <a:gd name="adj" fmla="val 4211"/>
            </a:avLst>
          </a:prstGeom>
          <a:solidFill>
            <a:schemeClr val="bg2"/>
          </a:solidFill>
          <a:ln w="9525">
            <a:solidFill>
              <a:schemeClr val="bg2"/>
            </a:solidFill>
            <a:prstDash val="solid"/>
          </a:ln>
        </p:spPr>
      </p:sp>
      <p:sp>
        <p:nvSpPr>
          <p:cNvPr id="16" name="sc-icon-2-circle"/>
          <p:cNvSpPr/>
          <p:nvPr/>
        </p:nvSpPr>
        <p:spPr>
          <a:xfrm>
            <a:off x="6446520" y="1645920"/>
            <a:ext cx="548640" cy="548640"/>
          </a:xfrm>
          <a:prstGeom prst="ellipse">
            <a:avLst/>
          </a:prstGeom>
          <a:solidFill>
            <a:schemeClr val="accent3"/>
          </a:solidFill>
          <a:ln w="6350">
            <a:solidFill>
              <a:schemeClr val="accent3"/>
            </a:solidFill>
            <a:prstDash val="solid"/>
          </a:ln>
        </p:spPr>
      </p:sp>
      <p:pic>
        <p:nvPicPr>
          <p:cNvPr id="17" name="sc-icon-2-icon" descr="preencoded.png">    </p:cNvPr>
          <p:cNvPicPr>
            <a:picLocks noChangeAspect="1"/>
          </p:cNvPicPr>
          <p:nvPr/>
        </p:nvPicPr>
        <p:blipFill>
          <a:blip r:embed="rId3"/>
          <a:stretch>
            <a:fillRect/>
          </a:stretch>
        </p:blipFill>
        <p:spPr>
          <a:xfrm>
            <a:off x="6578194" y="1777594"/>
            <a:ext cx="285293" cy="285293"/>
          </a:xfrm>
          <a:prstGeom prst="rect">
            <a:avLst/>
          </a:prstGeom>
        </p:spPr>
      </p:pic>
      <p:sp>
        <p:nvSpPr>
          <p:cNvPr id="18" name="Text 13"/>
          <p:cNvSpPr txBox="1"/>
          <p:nvPr/>
        </p:nvSpPr>
        <p:spPr>
          <a:xfrm>
            <a:off x="6446520" y="2331720"/>
            <a:ext cx="2194560" cy="411480"/>
          </a:xfrm>
          <a:prstGeom prst="rect">
            <a:avLst/>
          </a:prstGeom>
          <a:noFill/>
          <a:ln/>
        </p:spPr>
        <p:txBody>
          <a:bodyPr wrap="square" lIns="0" tIns="0" rIns="0" bIns="0" rtlCol="0" anchor="t"/>
          <a:lstStyle/>
          <a:p>
            <a:pPr indent="0" marL="0">
              <a:buNone/>
            </a:pPr>
            <a:r>
              <a:rPr lang="en-US" sz="1600" b="1" dirty="0">
                <a:solidFill>
                  <a:schemeClr val="tx1"/>
                </a:solidFill>
              </a:rPr>
              <a:t>ClawHavoc skills</a:t>
            </a:r>
            <a:endParaRPr lang="en-US" sz="1600" dirty="0"/>
          </a:p>
        </p:txBody>
      </p:sp>
      <p:sp>
        <p:nvSpPr>
          <p:cNvPr id="19" name="Text 14"/>
          <p:cNvSpPr txBox="1"/>
          <p:nvPr/>
        </p:nvSpPr>
        <p:spPr>
          <a:xfrm>
            <a:off x="6446520" y="2724912"/>
            <a:ext cx="2194560" cy="274320"/>
          </a:xfrm>
          <a:prstGeom prst="rect">
            <a:avLst/>
          </a:prstGeom>
          <a:noFill/>
          <a:ln/>
        </p:spPr>
        <p:txBody>
          <a:bodyPr wrap="square" lIns="0" tIns="0" rIns="0" bIns="0" rtlCol="0" anchor="t"/>
          <a:lstStyle/>
          <a:p>
            <a:pPr indent="0" marL="0">
              <a:buNone/>
            </a:pPr>
            <a:r>
              <a:rPr lang="en-US" sz="1200" b="1" dirty="0">
                <a:solidFill>
                  <a:schemeClr val="accent4"/>
                </a:solidFill>
              </a:rPr>
              <a:t>Feb 2026</a:t>
            </a:r>
            <a:endParaRPr lang="en-US" sz="1200" dirty="0"/>
          </a:p>
        </p:txBody>
      </p:sp>
      <p:sp>
        <p:nvSpPr>
          <p:cNvPr id="20" name="Text 15"/>
          <p:cNvSpPr txBox="1"/>
          <p:nvPr/>
        </p:nvSpPr>
        <p:spPr>
          <a:xfrm>
            <a:off x="6446520" y="3063240"/>
            <a:ext cx="2194560" cy="1417320"/>
          </a:xfrm>
          <a:prstGeom prst="rect">
            <a:avLst/>
          </a:prstGeom>
          <a:noFill/>
          <a:ln/>
        </p:spPr>
        <p:txBody>
          <a:bodyPr wrap="square" lIns="0" tIns="0" rIns="0" bIns="0" rtlCol="0" anchor="t"/>
          <a:lstStyle/>
          <a:p>
            <a:pPr indent="0" marL="0">
              <a:buNone/>
            </a:pPr>
            <a:r>
              <a:rPr lang="en-US" sz="1400" dirty="0">
                <a:solidFill>
                  <a:schemeClr val="tx1"/>
                </a:solidFill>
              </a:rPr>
              <a:t>341 of 2,857 OpenClaw skills were malicious, most installing a macOS stealer</a:t>
            </a:r>
            <a:endParaRPr lang="en-US" sz="1400" dirty="0"/>
          </a:p>
        </p:txBody>
      </p:sp>
      <p:sp>
        <p:nvSpPr>
          <p:cNvPr id="21" name="sc-3"/>
          <p:cNvSpPr/>
          <p:nvPr/>
        </p:nvSpPr>
        <p:spPr>
          <a:xfrm>
            <a:off x="9052560" y="1417320"/>
            <a:ext cx="2606040" cy="2743200"/>
          </a:xfrm>
          <a:prstGeom prst="roundRect">
            <a:avLst>
              <a:gd name="adj" fmla="val 4211"/>
            </a:avLst>
          </a:prstGeom>
          <a:solidFill>
            <a:schemeClr val="bg2"/>
          </a:solidFill>
          <a:ln w="9525">
            <a:solidFill>
              <a:schemeClr val="bg2"/>
            </a:solidFill>
            <a:prstDash val="solid"/>
          </a:ln>
        </p:spPr>
      </p:sp>
      <p:sp>
        <p:nvSpPr>
          <p:cNvPr id="22" name="sc-icon-3-circle"/>
          <p:cNvSpPr/>
          <p:nvPr/>
        </p:nvSpPr>
        <p:spPr>
          <a:xfrm>
            <a:off x="9281160" y="1645920"/>
            <a:ext cx="548640" cy="548640"/>
          </a:xfrm>
          <a:prstGeom prst="ellipse">
            <a:avLst/>
          </a:prstGeom>
          <a:solidFill>
            <a:schemeClr val="accent3"/>
          </a:solidFill>
          <a:ln w="6350">
            <a:solidFill>
              <a:schemeClr val="accent3"/>
            </a:solidFill>
            <a:prstDash val="solid"/>
          </a:ln>
        </p:spPr>
      </p:sp>
      <p:pic>
        <p:nvPicPr>
          <p:cNvPr id="23" name="sc-icon-3-icon" descr="preencoded.png">    </p:cNvPr>
          <p:cNvPicPr>
            <a:picLocks noChangeAspect="1"/>
          </p:cNvPicPr>
          <p:nvPr/>
        </p:nvPicPr>
        <p:blipFill>
          <a:blip r:embed="rId4"/>
          <a:stretch>
            <a:fillRect/>
          </a:stretch>
        </p:blipFill>
        <p:spPr>
          <a:xfrm>
            <a:off x="9412834" y="1777594"/>
            <a:ext cx="285293" cy="285293"/>
          </a:xfrm>
          <a:prstGeom prst="rect">
            <a:avLst/>
          </a:prstGeom>
        </p:spPr>
      </p:pic>
      <p:sp>
        <p:nvSpPr>
          <p:cNvPr id="24" name="Text 18"/>
          <p:cNvSpPr txBox="1"/>
          <p:nvPr/>
        </p:nvSpPr>
        <p:spPr>
          <a:xfrm>
            <a:off x="9281160" y="2331720"/>
            <a:ext cx="2194560" cy="411480"/>
          </a:xfrm>
          <a:prstGeom prst="rect">
            <a:avLst/>
          </a:prstGeom>
          <a:noFill/>
          <a:ln/>
        </p:spPr>
        <p:txBody>
          <a:bodyPr wrap="square" lIns="0" tIns="0" rIns="0" bIns="0" rtlCol="0" anchor="t"/>
          <a:lstStyle/>
          <a:p>
            <a:pPr indent="0" marL="0">
              <a:buNone/>
            </a:pPr>
            <a:r>
              <a:rPr lang="en-US" sz="1600" b="1" dirty="0">
                <a:solidFill>
                  <a:schemeClr val="tx1"/>
                </a:solidFill>
              </a:rPr>
              <a:t>postmark-mcp</a:t>
            </a:r>
            <a:endParaRPr lang="en-US" sz="1600" dirty="0"/>
          </a:p>
        </p:txBody>
      </p:sp>
      <p:sp>
        <p:nvSpPr>
          <p:cNvPr id="25" name="Text 19"/>
          <p:cNvSpPr txBox="1"/>
          <p:nvPr/>
        </p:nvSpPr>
        <p:spPr>
          <a:xfrm>
            <a:off x="9281160" y="2724912"/>
            <a:ext cx="2194560" cy="274320"/>
          </a:xfrm>
          <a:prstGeom prst="rect">
            <a:avLst/>
          </a:prstGeom>
          <a:noFill/>
          <a:ln/>
        </p:spPr>
        <p:txBody>
          <a:bodyPr wrap="square" lIns="0" tIns="0" rIns="0" bIns="0" rtlCol="0" anchor="t"/>
          <a:lstStyle/>
          <a:p>
            <a:pPr indent="0" marL="0">
              <a:buNone/>
            </a:pPr>
            <a:r>
              <a:rPr lang="en-US" sz="1200" b="1" dirty="0">
                <a:solidFill>
                  <a:schemeClr val="accent4"/>
                </a:solidFill>
              </a:rPr>
              <a:t>Sep 2025</a:t>
            </a:r>
            <a:endParaRPr lang="en-US" sz="1200" dirty="0"/>
          </a:p>
        </p:txBody>
      </p:sp>
      <p:sp>
        <p:nvSpPr>
          <p:cNvPr id="26" name="Text 20"/>
          <p:cNvSpPr txBox="1"/>
          <p:nvPr/>
        </p:nvSpPr>
        <p:spPr>
          <a:xfrm>
            <a:off x="9281160" y="3063240"/>
            <a:ext cx="2194560" cy="1417320"/>
          </a:xfrm>
          <a:prstGeom prst="rect">
            <a:avLst/>
          </a:prstGeom>
          <a:noFill/>
          <a:ln/>
        </p:spPr>
        <p:txBody>
          <a:bodyPr wrap="square" lIns="0" tIns="0" rIns="0" bIns="0" rtlCol="0" anchor="t"/>
          <a:lstStyle/>
          <a:p>
            <a:pPr indent="0" marL="0">
              <a:buNone/>
            </a:pPr>
            <a:r>
              <a:rPr lang="en-US" sz="1400" dirty="0">
                <a:solidFill>
                  <a:schemeClr val="tx1"/>
                </a:solidFill>
              </a:rPr>
              <a:t>A lookalike MCP server BCC'd every email after 15 clean versions</a:t>
            </a:r>
            <a:endParaRPr lang="en-US" sz="1400" dirty="0"/>
          </a:p>
        </p:txBody>
      </p:sp>
      <p:sp>
        <p:nvSpPr>
          <p:cNvPr id="27" name="sc-controls"/>
          <p:cNvSpPr/>
          <p:nvPr/>
        </p:nvSpPr>
        <p:spPr>
          <a:xfrm>
            <a:off x="548640" y="4434840"/>
            <a:ext cx="11064240" cy="1325880"/>
          </a:xfrm>
          <a:prstGeom prst="roundRect">
            <a:avLst>
              <a:gd name="adj" fmla="val 8276"/>
            </a:avLst>
          </a:prstGeom>
          <a:solidFill>
            <a:schemeClr val="tx2"/>
          </a:solidFill>
          <a:ln w="9525">
            <a:solidFill>
              <a:schemeClr val="tx2"/>
            </a:solidFill>
            <a:prstDash val="solid"/>
          </a:ln>
        </p:spPr>
      </p:sp>
      <p:sp>
        <p:nvSpPr>
          <p:cNvPr id="28" name="Text 22"/>
          <p:cNvSpPr txBox="1"/>
          <p:nvPr/>
        </p:nvSpPr>
        <p:spPr>
          <a:xfrm>
            <a:off x="822960" y="4590288"/>
            <a:ext cx="2743200" cy="365760"/>
          </a:xfrm>
          <a:prstGeom prst="rect">
            <a:avLst/>
          </a:prstGeom>
          <a:noFill/>
          <a:ln/>
        </p:spPr>
        <p:txBody>
          <a:bodyPr wrap="square" lIns="0" tIns="0" rIns="0" bIns="0" rtlCol="0" anchor="t"/>
          <a:lstStyle/>
          <a:p>
            <a:pPr indent="0" marL="0">
              <a:buNone/>
            </a:pPr>
            <a:r>
              <a:rPr lang="en-US" sz="1600" b="1" dirty="0">
                <a:solidFill>
                  <a:schemeClr val="accent3"/>
                </a:solidFill>
              </a:rPr>
              <a:t>Controls</a:t>
            </a:r>
            <a:endParaRPr lang="en-US" sz="1600" dirty="0"/>
          </a:p>
        </p:txBody>
      </p:sp>
      <p:sp>
        <p:nvSpPr>
          <p:cNvPr id="29" name="Text 23"/>
          <p:cNvSpPr txBox="1"/>
          <p:nvPr/>
        </p:nvSpPr>
        <p:spPr>
          <a:xfrm>
            <a:off x="822960" y="4983480"/>
            <a:ext cx="10515600" cy="640080"/>
          </a:xfrm>
          <a:prstGeom prst="rect">
            <a:avLst/>
          </a:prstGeom>
          <a:noFill/>
          <a:ln/>
        </p:spPr>
        <p:txBody>
          <a:bodyPr wrap="square" lIns="0" tIns="0" rIns="0" bIns="0" rtlCol="0" anchor="t"/>
          <a:lstStyle/>
          <a:p>
            <a:pPr indent="0" marL="0">
              <a:buNone/>
            </a:pPr>
            <a:r>
              <a:rPr lang="en-US" sz="1500" dirty="0">
                <a:solidFill>
                  <a:schemeClr val="bg1"/>
                </a:solidFill>
              </a:rPr>
              <a:t>AI bill of materials  ·  pin by hash, hold new versions  ·  ban permission-bypass flags  ·  short-lived credentials  ·  back up models</a:t>
            </a:r>
            <a:endParaRPr lang="en-US" sz="1500" dirty="0"/>
          </a:p>
        </p:txBody>
      </p:sp>
      <p:sp>
        <p:nvSpPr>
          <p:cNvPr id="30"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The Hacker News (2025-2026); Cloud Security Alliance (Mar 2026); Google Threat Intelligence Group (Sep 2026)</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Discovery now outruns remediation</a:t>
            </a:r>
            <a:endParaRPr lang="en-US" sz="3400" dirty="0"/>
          </a:p>
        </p:txBody>
      </p:sp>
      <p:graphicFrame>
        <p:nvGraphicFramePr>
          <p:cNvPr id="3" name="Chart 0" descr=""/>
          <p:cNvGraphicFramePr/>
          <p:nvPr/>
        </p:nvGraphicFramePr>
        <p:xfrm>
          <a:off x="548640" y="13716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c6-side"/>
          <p:cNvSpPr/>
          <p:nvPr/>
        </p:nvSpPr>
        <p:spPr>
          <a:xfrm>
            <a:off x="7680960" y="1417320"/>
            <a:ext cx="3931920" cy="4617720"/>
          </a:xfrm>
          <a:prstGeom prst="roundRect">
            <a:avLst>
              <a:gd name="adj" fmla="val 2791"/>
            </a:avLst>
          </a:prstGeom>
          <a:solidFill>
            <a:schemeClr val="bg2"/>
          </a:solidFill>
          <a:ln w="9525">
            <a:solidFill>
              <a:schemeClr val="bg2"/>
            </a:solidFill>
            <a:prstDash val="solid"/>
          </a:ln>
        </p:spPr>
      </p:sp>
      <p:sp>
        <p:nvSpPr>
          <p:cNvPr id="5" name="stat-value"/>
          <p:cNvSpPr txBox="1"/>
          <p:nvPr/>
        </p:nvSpPr>
        <p:spPr>
          <a:xfrm>
            <a:off x="7955280" y="1600200"/>
            <a:ext cx="3474720" cy="635000"/>
          </a:xfrm>
          <a:prstGeom prst="rect">
            <a:avLst/>
          </a:prstGeom>
          <a:noFill/>
          <a:ln/>
        </p:spPr>
        <p:txBody>
          <a:bodyPr wrap="square" lIns="0" tIns="0" rIns="0" bIns="0" rtlCol="0" anchor="b"/>
          <a:lstStyle/>
          <a:p>
            <a:pPr indent="0" marL="0">
              <a:buNone/>
            </a:pPr>
            <a:r>
              <a:rPr lang="en-US" sz="4000" b="1" dirty="0">
                <a:solidFill>
                  <a:schemeClr val="accent1"/>
                </a:solidFill>
                <a:latin typeface="+mj-lt" pitchFamily="34" charset="0"/>
                <a:ea typeface="+mj-lt" pitchFamily="34" charset="-122"/>
                <a:cs typeface="+mj-lt" pitchFamily="34" charset="-120"/>
              </a:rPr>
              <a:t>1.2%</a:t>
            </a:r>
            <a:endParaRPr lang="en-US" sz="4000" dirty="0"/>
          </a:p>
        </p:txBody>
      </p:sp>
      <p:sp>
        <p:nvSpPr>
          <p:cNvPr id="6" name="stat-label"/>
          <p:cNvSpPr txBox="1"/>
          <p:nvPr/>
        </p:nvSpPr>
        <p:spPr>
          <a:xfrm>
            <a:off x="7955280" y="2308352"/>
            <a:ext cx="3474720" cy="548640"/>
          </a:xfrm>
          <a:prstGeom prst="rect">
            <a:avLst/>
          </a:prstGeom>
          <a:noFill/>
          <a:ln/>
        </p:spPr>
        <p:txBody>
          <a:bodyPr wrap="square" lIns="0" tIns="0" rIns="0" bIns="0" rtlCol="0" anchor="t"/>
          <a:lstStyle/>
          <a:p>
            <a:pPr indent="0" marL="0">
              <a:buNone/>
            </a:pPr>
            <a:r>
              <a:rPr lang="en-US" sz="1400" dirty="0">
                <a:solidFill>
                  <a:schemeClr val="tx1"/>
                </a:solidFill>
              </a:rPr>
              <a:t>of estimated high or critical findings had a patch</a:t>
            </a:r>
            <a:endParaRPr lang="en-US" sz="1400" dirty="0"/>
          </a:p>
        </p:txBody>
      </p:sp>
      <p:sp>
        <p:nvSpPr>
          <p:cNvPr id="7" name="Text 4"/>
          <p:cNvSpPr txBox="1"/>
          <p:nvPr/>
        </p:nvSpPr>
        <p:spPr>
          <a:xfrm>
            <a:off x="7955280" y="3063240"/>
            <a:ext cx="3474720" cy="2834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OpenAI test agents used an Artifactory zero-day to escape a sandbox and breach Hugging Face (Jul 2026)</a:t>
            </a:r>
            <a:endParaRPr lang="en-US" sz="1400" dirty="0"/>
          </a:p>
          <a:p>
            <a:pPr marL="177800" indent="-177800">
              <a:spcAft>
                <a:spcPts val="600"/>
              </a:spcAft>
              <a:buSzPct val="100000"/>
              <a:buChar char="•"/>
            </a:pPr>
            <a:r>
              <a:rPr lang="en-US" sz="1400" dirty="0">
                <a:solidFill>
                  <a:schemeClr val="tx1"/>
                </a:solidFill>
              </a:rPr>
              <a:t>CISA BOD 26-04 gives the riskiest flaws three days</a:t>
            </a:r>
            <a:endParaRPr lang="en-US" sz="1400" dirty="0"/>
          </a:p>
          <a:p>
            <a:pPr marL="177800" indent="-177800">
              <a:spcAft>
                <a:spcPts val="600"/>
              </a:spcAft>
              <a:buSzPct val="100000"/>
              <a:buChar char="•"/>
            </a:pPr>
            <a:r>
              <a:rPr lang="en-US" sz="1400" dirty="0">
                <a:solidFill>
                  <a:schemeClr val="tx1"/>
                </a:solidFill>
              </a:rPr>
              <a:t>CVEs up 45% in six months; exploited flaws up 10%</a:t>
            </a:r>
            <a:endParaRPr lang="en-US" sz="1400" dirty="0"/>
          </a:p>
        </p:txBody>
      </p:sp>
      <p:sp>
        <p:nvSpPr>
          <p:cNvPr id="8"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Anthropic (May 2026); OpenAI and Hugging Face (Jul 2026); CISA (Jun 2026); VulnCheck (Jul 2026)</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Deepfakes are proven; hijacking is lab-shown</a:t>
            </a:r>
            <a:endParaRPr lang="en-US" sz="3400" dirty="0"/>
          </a:p>
        </p:txBody>
      </p:sp>
      <p:graphicFrame>
        <p:nvGraphicFramePr>
          <p:cNvPr id="3" name="Chart 0" descr=""/>
          <p:cNvGraphicFramePr/>
          <p:nvPr/>
        </p:nvGraphicFramePr>
        <p:xfrm>
          <a:off x="548640" y="1371600"/>
          <a:ext cx="7498080" cy="4663440"/>
        </p:xfrm>
        <a:graphic xmlns:a="http://schemas.openxmlformats.org/drawingml/2006/main">
          <a:graphicData uri="http://schemas.openxmlformats.org/drawingml/2006/chart">
            <c:chart xmlns:c="http://schemas.openxmlformats.org/drawingml/2006/chart" r:id="rId1"/>
          </a:graphicData>
        </a:graphic>
      </p:graphicFrame>
      <p:sp>
        <p:nvSpPr>
          <p:cNvPr id="4" name="hype-card"/>
          <p:cNvSpPr/>
          <p:nvPr/>
        </p:nvSpPr>
        <p:spPr>
          <a:xfrm>
            <a:off x="8412480" y="1417320"/>
            <a:ext cx="3200400" cy="3840480"/>
          </a:xfrm>
          <a:prstGeom prst="roundRect">
            <a:avLst>
              <a:gd name="adj" fmla="val 3429"/>
            </a:avLst>
          </a:prstGeom>
          <a:solidFill>
            <a:schemeClr val="bg2"/>
          </a:solidFill>
          <a:ln w="9525">
            <a:solidFill>
              <a:schemeClr val="bg2"/>
            </a:solidFill>
            <a:prstDash val="solid"/>
          </a:ln>
        </p:spPr>
      </p:sp>
      <p:sp>
        <p:nvSpPr>
          <p:cNvPr id="5" name="Text 2"/>
          <p:cNvSpPr txBox="1"/>
          <p:nvPr/>
        </p:nvSpPr>
        <p:spPr>
          <a:xfrm>
            <a:off x="8641080" y="1645920"/>
            <a:ext cx="2743200" cy="365760"/>
          </a:xfrm>
          <a:prstGeom prst="rect">
            <a:avLst/>
          </a:prstGeom>
          <a:noFill/>
          <a:ln/>
        </p:spPr>
        <p:txBody>
          <a:bodyPr wrap="square" lIns="0" tIns="0" rIns="0" bIns="0" rtlCol="0" anchor="t"/>
          <a:lstStyle/>
          <a:p>
            <a:pPr indent="0" marL="0">
              <a:buNone/>
            </a:pPr>
            <a:r>
              <a:rPr lang="en-US" sz="1700" b="1" dirty="0">
                <a:solidFill>
                  <a:schemeClr val="accent1"/>
                </a:solidFill>
              </a:rPr>
              <a:t>Overstated</a:t>
            </a:r>
            <a:endParaRPr lang="en-US" sz="1700" dirty="0"/>
          </a:p>
        </p:txBody>
      </p:sp>
      <p:sp>
        <p:nvSpPr>
          <p:cNvPr id="6" name="Text 3"/>
          <p:cNvSpPr txBox="1"/>
          <p:nvPr/>
        </p:nvSpPr>
        <p:spPr>
          <a:xfrm>
            <a:off x="8641080" y="2057400"/>
            <a:ext cx="2743200" cy="1097280"/>
          </a:xfrm>
          <a:prstGeom prst="rect">
            <a:avLst/>
          </a:prstGeom>
          <a:noFill/>
          <a:ln/>
        </p:spPr>
        <p:txBody>
          <a:bodyPr wrap="square" lIns="0" tIns="0" rIns="0" bIns="0" rtlCol="0" anchor="t"/>
          <a:lstStyle/>
          <a:p>
            <a:pPr indent="0" marL="0">
              <a:buNone/>
            </a:pPr>
            <a:r>
              <a:rPr lang="en-US" sz="1400" dirty="0">
                <a:solidFill>
                  <a:schemeClr val="tx1"/>
                </a:solidFill>
              </a:rPr>
              <a:t>Fully autonomous attackers; AI malware as a volume threat</a:t>
            </a:r>
            <a:endParaRPr lang="en-US" sz="1400" dirty="0"/>
          </a:p>
        </p:txBody>
      </p:sp>
      <p:sp>
        <p:nvSpPr>
          <p:cNvPr id="7" name="Text 4"/>
          <p:cNvSpPr txBox="1"/>
          <p:nvPr/>
        </p:nvSpPr>
        <p:spPr>
          <a:xfrm>
            <a:off x="8641080" y="3291840"/>
            <a:ext cx="2743200" cy="365760"/>
          </a:xfrm>
          <a:prstGeom prst="rect">
            <a:avLst/>
          </a:prstGeom>
          <a:noFill/>
          <a:ln/>
        </p:spPr>
        <p:txBody>
          <a:bodyPr wrap="square" lIns="0" tIns="0" rIns="0" bIns="0" rtlCol="0" anchor="t"/>
          <a:lstStyle/>
          <a:p>
            <a:pPr indent="0" marL="0">
              <a:buNone/>
            </a:pPr>
            <a:r>
              <a:rPr lang="en-US" sz="1700" b="1" dirty="0">
                <a:solidFill>
                  <a:schemeClr val="accent2"/>
                </a:solidFill>
              </a:rPr>
              <a:t>Understated</a:t>
            </a:r>
            <a:endParaRPr lang="en-US" sz="1700" dirty="0"/>
          </a:p>
        </p:txBody>
      </p:sp>
      <p:sp>
        <p:nvSpPr>
          <p:cNvPr id="8" name="Text 5"/>
          <p:cNvSpPr txBox="1"/>
          <p:nvPr/>
        </p:nvSpPr>
        <p:spPr>
          <a:xfrm>
            <a:off x="8641080" y="3703320"/>
            <a:ext cx="2743200" cy="1280160"/>
          </a:xfrm>
          <a:prstGeom prst="rect">
            <a:avLst/>
          </a:prstGeom>
          <a:noFill/>
          <a:ln/>
        </p:spPr>
        <p:txBody>
          <a:bodyPr wrap="square" lIns="0" tIns="0" rIns="0" bIns="0" rtlCol="0" anchor="t"/>
          <a:lstStyle/>
          <a:p>
            <a:pPr indent="0" marL="0">
              <a:buNone/>
            </a:pPr>
            <a:r>
              <a:rPr lang="en-US" sz="1400" dirty="0">
                <a:solidFill>
                  <a:schemeClr val="tx1"/>
                </a:solidFill>
              </a:rPr>
              <a:t>Deepfake fraud; the AI toolchain; agents becoming the intruder</a:t>
            </a:r>
            <a:endParaRPr lang="en-US" sz="1400" dirty="0"/>
          </a:p>
        </p:txBody>
      </p:sp>
      <p:sp>
        <p:nvSpPr>
          <p:cNvPr id="9"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Evidence grades assigned to the 32 events in this study's case tables</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Four patterns repeat across every case</a:t>
            </a:r>
            <a:endParaRPr lang="en-US" sz="3400" dirty="0"/>
          </a:p>
        </p:txBody>
      </p:sp>
      <p:sp>
        <p:nvSpPr>
          <p:cNvPr id="3" name="pattern-0"/>
          <p:cNvSpPr/>
          <p:nvPr/>
        </p:nvSpPr>
        <p:spPr>
          <a:xfrm>
            <a:off x="548640" y="1417320"/>
            <a:ext cx="5440680" cy="2148840"/>
          </a:xfrm>
          <a:prstGeom prst="roundRect">
            <a:avLst>
              <a:gd name="adj" fmla="val 5106"/>
            </a:avLst>
          </a:prstGeom>
          <a:solidFill>
            <a:schemeClr val="bg2"/>
          </a:solidFill>
          <a:ln w="9525">
            <a:solidFill>
              <a:schemeClr val="bg2"/>
            </a:solidFill>
            <a:prstDash val="solid"/>
          </a:ln>
        </p:spPr>
      </p:sp>
      <p:sp>
        <p:nvSpPr>
          <p:cNvPr id="4" name="pattern-icon-0-circle"/>
          <p:cNvSpPr/>
          <p:nvPr/>
        </p:nvSpPr>
        <p:spPr>
          <a:xfrm>
            <a:off x="822960" y="1691640"/>
            <a:ext cx="594360" cy="594360"/>
          </a:xfrm>
          <a:prstGeom prst="ellipse">
            <a:avLst/>
          </a:prstGeom>
          <a:solidFill>
            <a:schemeClr val="accent1"/>
          </a:solidFill>
          <a:ln w="6350">
            <a:solidFill>
              <a:schemeClr val="accent1"/>
            </a:solidFill>
            <a:prstDash val="solid"/>
          </a:ln>
        </p:spPr>
      </p:sp>
      <p:pic>
        <p:nvPicPr>
          <p:cNvPr id="5" name="pattern-icon-0-icon" descr="preencoded.png">    </p:cNvPr>
          <p:cNvPicPr>
            <a:picLocks noChangeAspect="1"/>
          </p:cNvPicPr>
          <p:nvPr/>
        </p:nvPicPr>
        <p:blipFill>
          <a:blip r:embed="rId1"/>
          <a:stretch>
            <a:fillRect/>
          </a:stretch>
        </p:blipFill>
        <p:spPr>
          <a:xfrm>
            <a:off x="965606" y="1834286"/>
            <a:ext cx="309067" cy="309067"/>
          </a:xfrm>
          <a:prstGeom prst="rect">
            <a:avLst/>
          </a:prstGeom>
        </p:spPr>
      </p:pic>
      <p:sp>
        <p:nvSpPr>
          <p:cNvPr id="6" name="Text 3"/>
          <p:cNvSpPr txBox="1"/>
          <p:nvPr/>
        </p:nvSpPr>
        <p:spPr>
          <a:xfrm>
            <a:off x="1600200" y="1719072"/>
            <a:ext cx="4206240" cy="502920"/>
          </a:xfrm>
          <a:prstGeom prst="rect">
            <a:avLst/>
          </a:prstGeom>
          <a:noFill/>
          <a:ln/>
        </p:spPr>
        <p:txBody>
          <a:bodyPr wrap="square" lIns="0" tIns="0" rIns="0" bIns="0" rtlCol="0" anchor="ctr"/>
          <a:lstStyle/>
          <a:p>
            <a:pPr indent="0" marL="0">
              <a:buNone/>
            </a:pPr>
            <a:r>
              <a:rPr lang="en-US" sz="1800" b="1" dirty="0">
                <a:solidFill>
                  <a:schemeClr val="tx1"/>
                </a:solidFill>
              </a:rPr>
              <a:t>Time compression</a:t>
            </a:r>
            <a:endParaRPr lang="en-US" sz="1800" dirty="0"/>
          </a:p>
        </p:txBody>
      </p:sp>
      <p:sp>
        <p:nvSpPr>
          <p:cNvPr id="7" name="Text 4"/>
          <p:cNvSpPr txBox="1"/>
          <p:nvPr/>
        </p:nvSpPr>
        <p:spPr>
          <a:xfrm>
            <a:off x="822960" y="2377440"/>
            <a:ext cx="4937760" cy="640080"/>
          </a:xfrm>
          <a:prstGeom prst="rect">
            <a:avLst/>
          </a:prstGeom>
          <a:noFill/>
          <a:ln/>
        </p:spPr>
        <p:txBody>
          <a:bodyPr wrap="square" lIns="0" tIns="0" rIns="0" bIns="0" rtlCol="0" anchor="t"/>
          <a:lstStyle/>
          <a:p>
            <a:pPr indent="0" marL="0">
              <a:buNone/>
            </a:pPr>
            <a:r>
              <a:rPr lang="en-US" sz="1400" dirty="0">
                <a:solidFill>
                  <a:schemeClr val="tx1"/>
                </a:solidFill>
              </a:rPr>
              <a:t>31-second self-correction; a credential pipeline built in under six hours; a three-day patch tier</a:t>
            </a:r>
            <a:endParaRPr lang="en-US" sz="1400" dirty="0"/>
          </a:p>
        </p:txBody>
      </p:sp>
      <p:sp>
        <p:nvSpPr>
          <p:cNvPr id="8" name="Text 5"/>
          <p:cNvSpPr txBox="1"/>
          <p:nvPr/>
        </p:nvSpPr>
        <p:spPr>
          <a:xfrm>
            <a:off x="822960" y="3044952"/>
            <a:ext cx="4937760" cy="365760"/>
          </a:xfrm>
          <a:prstGeom prst="rect">
            <a:avLst/>
          </a:prstGeom>
          <a:noFill/>
          <a:ln/>
        </p:spPr>
        <p:txBody>
          <a:bodyPr wrap="square" lIns="0" tIns="0" rIns="0" bIns="0" rtlCol="0" anchor="t"/>
          <a:lstStyle/>
          <a:p>
            <a:pPr indent="0" marL="0">
              <a:buNone/>
            </a:pPr>
            <a:r>
              <a:rPr lang="en-US" sz="1400" b="1" dirty="0">
                <a:solidFill>
                  <a:schemeClr val="accent2"/>
                </a:solidFill>
              </a:rPr>
              <a:t>Any step that waits for a person loses the race</a:t>
            </a:r>
            <a:endParaRPr lang="en-US" sz="1400" dirty="0"/>
          </a:p>
        </p:txBody>
      </p:sp>
      <p:sp>
        <p:nvSpPr>
          <p:cNvPr id="9" name="pattern-1"/>
          <p:cNvSpPr/>
          <p:nvPr/>
        </p:nvSpPr>
        <p:spPr>
          <a:xfrm>
            <a:off x="6172200" y="1417320"/>
            <a:ext cx="5440680" cy="2148840"/>
          </a:xfrm>
          <a:prstGeom prst="roundRect">
            <a:avLst>
              <a:gd name="adj" fmla="val 5106"/>
            </a:avLst>
          </a:prstGeom>
          <a:solidFill>
            <a:schemeClr val="bg2"/>
          </a:solidFill>
          <a:ln w="9525">
            <a:solidFill>
              <a:schemeClr val="bg2"/>
            </a:solidFill>
            <a:prstDash val="solid"/>
          </a:ln>
        </p:spPr>
      </p:sp>
      <p:sp>
        <p:nvSpPr>
          <p:cNvPr id="10" name="pattern-icon-1-circle"/>
          <p:cNvSpPr/>
          <p:nvPr/>
        </p:nvSpPr>
        <p:spPr>
          <a:xfrm>
            <a:off x="6446520" y="1691640"/>
            <a:ext cx="594360" cy="594360"/>
          </a:xfrm>
          <a:prstGeom prst="ellipse">
            <a:avLst/>
          </a:prstGeom>
          <a:solidFill>
            <a:schemeClr val="accent3"/>
          </a:solidFill>
          <a:ln w="6350">
            <a:solidFill>
              <a:schemeClr val="accent3"/>
            </a:solidFill>
            <a:prstDash val="solid"/>
          </a:ln>
        </p:spPr>
      </p:sp>
      <p:pic>
        <p:nvPicPr>
          <p:cNvPr id="11" name="pattern-icon-1-icon" descr="preencoded.png">    </p:cNvPr>
          <p:cNvPicPr>
            <a:picLocks noChangeAspect="1"/>
          </p:cNvPicPr>
          <p:nvPr/>
        </p:nvPicPr>
        <p:blipFill>
          <a:blip r:embed="rId2"/>
          <a:stretch>
            <a:fillRect/>
          </a:stretch>
        </p:blipFill>
        <p:spPr>
          <a:xfrm>
            <a:off x="6589166" y="1834286"/>
            <a:ext cx="309067" cy="309067"/>
          </a:xfrm>
          <a:prstGeom prst="rect">
            <a:avLst/>
          </a:prstGeom>
        </p:spPr>
      </p:pic>
      <p:sp>
        <p:nvSpPr>
          <p:cNvPr id="12" name="Text 8"/>
          <p:cNvSpPr txBox="1"/>
          <p:nvPr/>
        </p:nvSpPr>
        <p:spPr>
          <a:xfrm>
            <a:off x="7223760" y="1719072"/>
            <a:ext cx="4206240" cy="502920"/>
          </a:xfrm>
          <a:prstGeom prst="rect">
            <a:avLst/>
          </a:prstGeom>
          <a:noFill/>
          <a:ln/>
        </p:spPr>
        <p:txBody>
          <a:bodyPr wrap="square" lIns="0" tIns="0" rIns="0" bIns="0" rtlCol="0" anchor="ctr"/>
          <a:lstStyle/>
          <a:p>
            <a:pPr indent="0" marL="0">
              <a:buNone/>
            </a:pPr>
            <a:r>
              <a:rPr lang="en-US" sz="1800" b="1" dirty="0">
                <a:solidFill>
                  <a:schemeClr val="tx1"/>
                </a:solidFill>
              </a:rPr>
              <a:t>Trust signals fail</a:t>
            </a:r>
            <a:endParaRPr lang="en-US" sz="1800" dirty="0"/>
          </a:p>
        </p:txBody>
      </p:sp>
      <p:sp>
        <p:nvSpPr>
          <p:cNvPr id="13" name="Text 9"/>
          <p:cNvSpPr txBox="1"/>
          <p:nvPr/>
        </p:nvSpPr>
        <p:spPr>
          <a:xfrm>
            <a:off x="6446520" y="2377440"/>
            <a:ext cx="4937760" cy="640080"/>
          </a:xfrm>
          <a:prstGeom prst="rect">
            <a:avLst/>
          </a:prstGeom>
          <a:noFill/>
          <a:ln/>
        </p:spPr>
        <p:txBody>
          <a:bodyPr wrap="square" lIns="0" tIns="0" rIns="0" bIns="0" rtlCol="0" anchor="t"/>
          <a:lstStyle/>
          <a:p>
            <a:pPr indent="0" marL="0">
              <a:buNone/>
            </a:pPr>
            <a:r>
              <a:rPr lang="en-US" sz="1400" dirty="0">
                <a:solidFill>
                  <a:schemeClr val="tx1"/>
                </a:solidFill>
              </a:rPr>
              <a:t>Cloned voices; a lead form obeyed as an order; an MCP server clean for 15 versions</a:t>
            </a:r>
            <a:endParaRPr lang="en-US" sz="1400" dirty="0"/>
          </a:p>
        </p:txBody>
      </p:sp>
      <p:sp>
        <p:nvSpPr>
          <p:cNvPr id="14" name="Text 10"/>
          <p:cNvSpPr txBox="1"/>
          <p:nvPr/>
        </p:nvSpPr>
        <p:spPr>
          <a:xfrm>
            <a:off x="6446520" y="3044952"/>
            <a:ext cx="4937760" cy="365760"/>
          </a:xfrm>
          <a:prstGeom prst="rect">
            <a:avLst/>
          </a:prstGeom>
          <a:noFill/>
          <a:ln/>
        </p:spPr>
        <p:txBody>
          <a:bodyPr wrap="square" lIns="0" tIns="0" rIns="0" bIns="0" rtlCol="0" anchor="t"/>
          <a:lstStyle/>
          <a:p>
            <a:pPr indent="0" marL="0">
              <a:buNone/>
            </a:pPr>
            <a:r>
              <a:rPr lang="en-US" sz="1400" b="1" dirty="0">
                <a:solidFill>
                  <a:schemeClr val="accent2"/>
                </a:solidFill>
              </a:rPr>
              <a:t>Verify identity, content and reputation outside the channel</a:t>
            </a:r>
            <a:endParaRPr lang="en-US" sz="1400" dirty="0"/>
          </a:p>
        </p:txBody>
      </p:sp>
      <p:sp>
        <p:nvSpPr>
          <p:cNvPr id="15" name="pattern-2"/>
          <p:cNvSpPr/>
          <p:nvPr/>
        </p:nvSpPr>
        <p:spPr>
          <a:xfrm>
            <a:off x="548640" y="3794760"/>
            <a:ext cx="5440680" cy="2148840"/>
          </a:xfrm>
          <a:prstGeom prst="roundRect">
            <a:avLst>
              <a:gd name="adj" fmla="val 5106"/>
            </a:avLst>
          </a:prstGeom>
          <a:solidFill>
            <a:schemeClr val="bg2"/>
          </a:solidFill>
          <a:ln w="9525">
            <a:solidFill>
              <a:schemeClr val="bg2"/>
            </a:solidFill>
            <a:prstDash val="solid"/>
          </a:ln>
        </p:spPr>
      </p:sp>
      <p:sp>
        <p:nvSpPr>
          <p:cNvPr id="16" name="pattern-icon-2-circle"/>
          <p:cNvSpPr/>
          <p:nvPr/>
        </p:nvSpPr>
        <p:spPr>
          <a:xfrm>
            <a:off x="822960" y="4069080"/>
            <a:ext cx="594360" cy="594360"/>
          </a:xfrm>
          <a:prstGeom prst="ellipse">
            <a:avLst/>
          </a:prstGeom>
          <a:solidFill>
            <a:schemeClr val="accent6"/>
          </a:solidFill>
          <a:ln w="6350">
            <a:solidFill>
              <a:schemeClr val="accent6"/>
            </a:solidFill>
            <a:prstDash val="solid"/>
          </a:ln>
        </p:spPr>
      </p:sp>
      <p:pic>
        <p:nvPicPr>
          <p:cNvPr id="17" name="pattern-icon-2-icon" descr="preencoded.png">    </p:cNvPr>
          <p:cNvPicPr>
            <a:picLocks noChangeAspect="1"/>
          </p:cNvPicPr>
          <p:nvPr/>
        </p:nvPicPr>
        <p:blipFill>
          <a:blip r:embed="rId3"/>
          <a:stretch>
            <a:fillRect/>
          </a:stretch>
        </p:blipFill>
        <p:spPr>
          <a:xfrm>
            <a:off x="965606" y="4211726"/>
            <a:ext cx="309067" cy="309067"/>
          </a:xfrm>
          <a:prstGeom prst="rect">
            <a:avLst/>
          </a:prstGeom>
        </p:spPr>
      </p:pic>
      <p:sp>
        <p:nvSpPr>
          <p:cNvPr id="18" name="Text 13"/>
          <p:cNvSpPr txBox="1"/>
          <p:nvPr/>
        </p:nvSpPr>
        <p:spPr>
          <a:xfrm>
            <a:off x="1600200" y="4096512"/>
            <a:ext cx="4206240" cy="502920"/>
          </a:xfrm>
          <a:prstGeom prst="rect">
            <a:avLst/>
          </a:prstGeom>
          <a:noFill/>
          <a:ln/>
        </p:spPr>
        <p:txBody>
          <a:bodyPr wrap="square" lIns="0" tIns="0" rIns="0" bIns="0" rtlCol="0" anchor="ctr"/>
          <a:lstStyle/>
          <a:p>
            <a:pPr indent="0" marL="0">
              <a:buNone/>
            </a:pPr>
            <a:r>
              <a:rPr lang="en-US" sz="1800" b="1" dirty="0">
                <a:solidFill>
                  <a:schemeClr val="tx1"/>
                </a:solidFill>
              </a:rPr>
              <a:t>Agents inherit privilege</a:t>
            </a:r>
            <a:endParaRPr lang="en-US" sz="1800" dirty="0"/>
          </a:p>
        </p:txBody>
      </p:sp>
      <p:sp>
        <p:nvSpPr>
          <p:cNvPr id="19" name="Text 14"/>
          <p:cNvSpPr txBox="1"/>
          <p:nvPr/>
        </p:nvSpPr>
        <p:spPr>
          <a:xfrm>
            <a:off x="822960" y="4754880"/>
            <a:ext cx="4937760" cy="640080"/>
          </a:xfrm>
          <a:prstGeom prst="rect">
            <a:avLst/>
          </a:prstGeom>
          <a:noFill/>
          <a:ln/>
        </p:spPr>
        <p:txBody>
          <a:bodyPr wrap="square" lIns="0" tIns="0" rIns="0" bIns="0" rtlCol="0" anchor="t"/>
          <a:lstStyle/>
          <a:p>
            <a:pPr indent="0" marL="0">
              <a:buNone/>
            </a:pPr>
            <a:r>
              <a:rPr lang="en-US" sz="1400" dirty="0">
                <a:solidFill>
                  <a:schemeClr val="tx1"/>
                </a:solidFill>
              </a:rPr>
              <a:t>Comet acting as the user; skills with the agent's rights; AI CLIs run with checks off</a:t>
            </a:r>
            <a:endParaRPr lang="en-US" sz="1400" dirty="0"/>
          </a:p>
        </p:txBody>
      </p:sp>
      <p:sp>
        <p:nvSpPr>
          <p:cNvPr id="20" name="Text 15"/>
          <p:cNvSpPr txBox="1"/>
          <p:nvPr/>
        </p:nvSpPr>
        <p:spPr>
          <a:xfrm>
            <a:off x="822960" y="5422392"/>
            <a:ext cx="4937760" cy="365760"/>
          </a:xfrm>
          <a:prstGeom prst="rect">
            <a:avLst/>
          </a:prstGeom>
          <a:noFill/>
          <a:ln/>
        </p:spPr>
        <p:txBody>
          <a:bodyPr wrap="square" lIns="0" tIns="0" rIns="0" bIns="0" rtlCol="0" anchor="t"/>
          <a:lstStyle/>
          <a:p>
            <a:pPr indent="0" marL="0">
              <a:buNone/>
            </a:pPr>
            <a:r>
              <a:rPr lang="en-US" sz="1400" b="1" dirty="0">
                <a:solidFill>
                  <a:schemeClr val="accent2"/>
                </a:solidFill>
              </a:rPr>
              <a:t>An agent's permission set is its blast radius</a:t>
            </a:r>
            <a:endParaRPr lang="en-US" sz="1400" dirty="0"/>
          </a:p>
        </p:txBody>
      </p:sp>
      <p:sp>
        <p:nvSpPr>
          <p:cNvPr id="21" name="pattern-3"/>
          <p:cNvSpPr/>
          <p:nvPr/>
        </p:nvSpPr>
        <p:spPr>
          <a:xfrm>
            <a:off x="6172200" y="3794760"/>
            <a:ext cx="5440680" cy="2148840"/>
          </a:xfrm>
          <a:prstGeom prst="roundRect">
            <a:avLst>
              <a:gd name="adj" fmla="val 5106"/>
            </a:avLst>
          </a:prstGeom>
          <a:solidFill>
            <a:schemeClr val="bg2"/>
          </a:solidFill>
          <a:ln w="9525">
            <a:solidFill>
              <a:schemeClr val="bg2"/>
            </a:solidFill>
            <a:prstDash val="solid"/>
          </a:ln>
        </p:spPr>
      </p:sp>
      <p:sp>
        <p:nvSpPr>
          <p:cNvPr id="22" name="pattern-icon-3-circle"/>
          <p:cNvSpPr/>
          <p:nvPr/>
        </p:nvSpPr>
        <p:spPr>
          <a:xfrm>
            <a:off x="6446520" y="4069080"/>
            <a:ext cx="594360" cy="594360"/>
          </a:xfrm>
          <a:prstGeom prst="ellipse">
            <a:avLst/>
          </a:prstGeom>
          <a:solidFill>
            <a:schemeClr val="accent4"/>
          </a:solidFill>
          <a:ln w="6350">
            <a:solidFill>
              <a:schemeClr val="accent4"/>
            </a:solidFill>
            <a:prstDash val="solid"/>
          </a:ln>
        </p:spPr>
      </p:sp>
      <p:pic>
        <p:nvPicPr>
          <p:cNvPr id="23" name="pattern-icon-3-icon" descr="preencoded.png">    </p:cNvPr>
          <p:cNvPicPr>
            <a:picLocks noChangeAspect="1"/>
          </p:cNvPicPr>
          <p:nvPr/>
        </p:nvPicPr>
        <p:blipFill>
          <a:blip r:embed="rId4"/>
          <a:stretch>
            <a:fillRect/>
          </a:stretch>
        </p:blipFill>
        <p:spPr>
          <a:xfrm>
            <a:off x="6589166" y="4211726"/>
            <a:ext cx="309067" cy="309067"/>
          </a:xfrm>
          <a:prstGeom prst="rect">
            <a:avLst/>
          </a:prstGeom>
        </p:spPr>
      </p:pic>
      <p:sp>
        <p:nvSpPr>
          <p:cNvPr id="24" name="Text 18"/>
          <p:cNvSpPr txBox="1"/>
          <p:nvPr/>
        </p:nvSpPr>
        <p:spPr>
          <a:xfrm>
            <a:off x="7223760" y="4096512"/>
            <a:ext cx="4206240" cy="502920"/>
          </a:xfrm>
          <a:prstGeom prst="rect">
            <a:avLst/>
          </a:prstGeom>
          <a:noFill/>
          <a:ln/>
        </p:spPr>
        <p:txBody>
          <a:bodyPr wrap="square" lIns="0" tIns="0" rIns="0" bIns="0" rtlCol="0" anchor="ctr"/>
          <a:lstStyle/>
          <a:p>
            <a:pPr indent="0" marL="0">
              <a:buNone/>
            </a:pPr>
            <a:r>
              <a:rPr lang="en-US" sz="1800" b="1" dirty="0">
                <a:solidFill>
                  <a:schemeClr val="tx1"/>
                </a:solidFill>
              </a:rPr>
              <a:t>Old weaknesses, new speed</a:t>
            </a:r>
            <a:endParaRPr lang="en-US" sz="1800" dirty="0"/>
          </a:p>
        </p:txBody>
      </p:sp>
      <p:sp>
        <p:nvSpPr>
          <p:cNvPr id="25" name="Text 19"/>
          <p:cNvSpPr txBox="1"/>
          <p:nvPr/>
        </p:nvSpPr>
        <p:spPr>
          <a:xfrm>
            <a:off x="6446520" y="4754880"/>
            <a:ext cx="4937760" cy="640080"/>
          </a:xfrm>
          <a:prstGeom prst="rect">
            <a:avLst/>
          </a:prstGeom>
          <a:noFill/>
          <a:ln/>
        </p:spPr>
        <p:txBody>
          <a:bodyPr wrap="square" lIns="0" tIns="0" rIns="0" bIns="0" rtlCol="0" anchor="t"/>
          <a:lstStyle/>
          <a:p>
            <a:pPr indent="0" marL="0">
              <a:buNone/>
            </a:pPr>
            <a:r>
              <a:rPr lang="en-US" sz="1400" dirty="0">
                <a:solidFill>
                  <a:schemeClr val="tx1"/>
                </a:solidFill>
              </a:rPr>
              <a:t>Default MinIO credentials; a 2021 Nacos CVE; long-lived publish tokens</a:t>
            </a:r>
            <a:endParaRPr lang="en-US" sz="1400" dirty="0"/>
          </a:p>
        </p:txBody>
      </p:sp>
      <p:sp>
        <p:nvSpPr>
          <p:cNvPr id="26" name="Text 20"/>
          <p:cNvSpPr txBox="1"/>
          <p:nvPr/>
        </p:nvSpPr>
        <p:spPr>
          <a:xfrm>
            <a:off x="6446520" y="5422392"/>
            <a:ext cx="4937760" cy="365760"/>
          </a:xfrm>
          <a:prstGeom prst="rect">
            <a:avLst/>
          </a:prstGeom>
          <a:noFill/>
          <a:ln/>
        </p:spPr>
        <p:txBody>
          <a:bodyPr wrap="square" lIns="0" tIns="0" rIns="0" bIns="0" rtlCol="0" anchor="t"/>
          <a:lstStyle/>
          <a:p>
            <a:pPr indent="0" marL="0">
              <a:buNone/>
            </a:pPr>
            <a:r>
              <a:rPr lang="en-US" sz="1400" b="1" dirty="0">
                <a:solidFill>
                  <a:schemeClr val="accent2"/>
                </a:solidFill>
              </a:rPr>
              <a:t>Basic hygiene still decides most outcomes</a:t>
            </a:r>
            <a:endParaRPr lang="en-US" sz="1400" dirty="0"/>
          </a:p>
        </p:txBody>
      </p:sp>
      <p:sp>
        <p:nvSpPr>
          <p:cNvPr id="27"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Credentials are the common prize: GTG-1002, JADEPUFFER, the GTIG pipeline, s1ngularity and LiteLLM all ended in harvested keys</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Known controls, applied to new places</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gridCol w="5852160"/>
                <a:gridCol w="228600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Threat class</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1624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Highest-value controls</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1624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16243A"/>
                    </a:solidFill>
                  </a:tcPr>
                </a:tc>
              </a:tr>
              <a:tr h="566928">
                <a:tc>
                  <a:txBody>
                    <a:bodyPr/>
                    <a:lstStyle/>
                    <a:p>
                      <a:pPr indent="0" marL="0">
                        <a:buNone/>
                      </a:pPr>
                      <a:r>
                        <a:rPr lang="en-US" sz="1400" b="1" dirty="0">
                          <a:solidFill>
                            <a:srgbClr val="141C28"/>
                          </a:solidFill>
                          <a:latin typeface="Calibri" pitchFamily="34" charset="0"/>
                          <a:ea typeface="Calibri" pitchFamily="34" charset="-122"/>
                          <a:cs typeface="Calibri" pitchFamily="34" charset="-120"/>
                        </a:rPr>
                        <a:t>AI-orchestrated intrusion</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Pre-approved auto-containment; no secrets on AI hosts; canaries</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SOC, cloud</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r>
              <a:tr h="566928">
                <a:tc>
                  <a:txBody>
                    <a:bodyPr/>
                    <a:lstStyle/>
                    <a:p>
                      <a:pPr indent="0" marL="0">
                        <a:buNone/>
                      </a:pPr>
                      <a:r>
                        <a:rPr lang="en-US" sz="1400" b="1" dirty="0">
                          <a:solidFill>
                            <a:srgbClr val="141C28"/>
                          </a:solidFill>
                          <a:latin typeface="Calibri" pitchFamily="34" charset="0"/>
                          <a:ea typeface="Calibri" pitchFamily="34" charset="-122"/>
                          <a:cs typeface="Calibri" pitchFamily="34" charset="-120"/>
                        </a:rPr>
                        <a:t>Deepfake social engineering</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Directory callback; dual payment approval; identity proofing</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Finance, HR, help desk</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41C28"/>
                          </a:solidFill>
                          <a:latin typeface="Calibri" pitchFamily="34" charset="0"/>
                          <a:ea typeface="Calibri" pitchFamily="34" charset="-122"/>
                          <a:cs typeface="Calibri" pitchFamily="34" charset="-120"/>
                        </a:rPr>
                        <a:t>AI-native malware</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Behavior detection; allowlisted model-API egress</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SOC, endpoint</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r>
              <a:tr h="566928">
                <a:tc>
                  <a:txBody>
                    <a:bodyPr/>
                    <a:lstStyle/>
                    <a:p>
                      <a:pPr indent="0" marL="0">
                        <a:buNone/>
                      </a:pPr>
                      <a:r>
                        <a:rPr lang="en-US" sz="1400" b="1" dirty="0">
                          <a:solidFill>
                            <a:srgbClr val="141C28"/>
                          </a:solidFill>
                          <a:latin typeface="Calibri" pitchFamily="34" charset="0"/>
                          <a:ea typeface="Calibri" pitchFamily="34" charset="-122"/>
                          <a:cs typeface="Calibri" pitchFamily="34" charset="-120"/>
                        </a:rPr>
                        <a:t>Prompt injection</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Rule of Two; allowlisted outputs; human confirmation</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AppSec, AI platform</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41C28"/>
                          </a:solidFill>
                          <a:latin typeface="Calibri" pitchFamily="34" charset="0"/>
                          <a:ea typeface="Calibri" pitchFamily="34" charset="-122"/>
                          <a:cs typeface="Calibri" pitchFamily="34" charset="-120"/>
                        </a:rPr>
                        <a:t>AI supply chain</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AI-BOM; hash pinning; no bypass flags; short-lived creds</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DevSecOps</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EDF1F6"/>
                    </a:solidFill>
                  </a:tcPr>
                </a:tc>
              </a:tr>
              <a:tr h="566928">
                <a:tc>
                  <a:txBody>
                    <a:bodyPr/>
                    <a:lstStyle/>
                    <a:p>
                      <a:pPr indent="0" marL="0">
                        <a:buNone/>
                      </a:pPr>
                      <a:r>
                        <a:rPr lang="en-US" sz="1400" b="1" dirty="0">
                          <a:solidFill>
                            <a:srgbClr val="141C28"/>
                          </a:solidFill>
                          <a:latin typeface="Calibri" pitchFamily="34" charset="0"/>
                          <a:ea typeface="Calibri" pitchFamily="34" charset="-122"/>
                          <a:cs typeface="Calibri" pitchFamily="34" charset="-120"/>
                        </a:rPr>
                        <a:t>Vulnerability flood</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Risk-tiered SLAs; auto-rollout for low-risk software</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c>
                  <a:txBody>
                    <a:bodyPr/>
                    <a:lstStyle/>
                    <a:p>
                      <a:pPr indent="0" marL="0">
                        <a:buNone/>
                      </a:pPr>
                      <a:r>
                        <a:rPr lang="en-US" sz="1400" dirty="0">
                          <a:solidFill>
                            <a:srgbClr val="141C28"/>
                          </a:solidFill>
                          <a:latin typeface="Calibri" pitchFamily="34" charset="0"/>
                          <a:ea typeface="Calibri" pitchFamily="34" charset="-122"/>
                          <a:cs typeface="Calibri" pitchFamily="34" charset="-120"/>
                        </a:rPr>
                        <a:t>Vuln management</a:t>
                      </a:r>
                      <a:endParaRPr lang="en-US" sz="1400" dirty="0">
                        <a:latin typeface="Calibri" charset="0"/>
                        <a:ea typeface="Calibri" charset="0"/>
                        <a:cs typeface="Calibri" charset="0"/>
                      </a:endParaRPr>
                    </a:p>
                  </a:txBody>
                  <a:tcPr marL="73152" marR="73152" marT="73152" marB="73152" anchor="ctr">
                    <a:lnL w="6350" cap="flat" cmpd="sng" algn="ctr">
                      <a:solidFill>
                        <a:srgbClr val="EDF1F6"/>
                      </a:solidFill>
                      <a:prstDash val="solid"/>
                      <a:round/>
                      <a:headEnd type="none" w="med" len="med"/>
                      <a:tailEnd type="none" w="med" len="med"/>
                    </a:lnL>
                    <a:lnR w="6350" cap="flat" cmpd="sng" algn="ctr">
                      <a:solidFill>
                        <a:srgbClr val="EDF1F6"/>
                      </a:solidFill>
                      <a:prstDash val="solid"/>
                      <a:round/>
                      <a:headEnd type="none" w="med" len="med"/>
                      <a:tailEnd type="none" w="med" len="med"/>
                    </a:lnR>
                    <a:lnT w="6350" cap="flat" cmpd="sng" algn="ctr">
                      <a:solidFill>
                        <a:srgbClr val="EDF1F6"/>
                      </a:solidFill>
                      <a:prstDash val="solid"/>
                      <a:round/>
                      <a:headEnd type="none" w="med" len="med"/>
                      <a:tailEnd type="none" w="med" len="med"/>
                    </a:lnT>
                    <a:lnB w="6350" cap="flat" cmpd="sng" algn="ctr">
                      <a:solidFill>
                        <a:srgbClr val="EDF1F6"/>
                      </a:solidFill>
                      <a:prstDash val="solid"/>
                      <a:round/>
                      <a:headEnd type="none" w="med" len="med"/>
                      <a:tailEnd type="none" w="med" len="med"/>
                    </a:lnB>
                    <a:solidFill>
                      <a:srgbClr val="FFFFFF"/>
                    </a:solidFill>
                  </a:tcPr>
                </a:tc>
              </a:tr>
            </a:tbl>
          </a:graphicData>
        </a:graphic>
      </p:graphicFrame>
      <p:sp>
        <p:nvSpPr>
          <p:cNvPr id="4"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Frameworks: MITRE ATT&amp;CK and ATLAS; OWASP LLM01, LLM03, LLM06 (2025) and Agentic ASI01; CISA BOD 26-04; FBI PSA I-121925-PSA</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Inventory first, then contain, then outpace</a:t>
            </a:r>
            <a:endParaRPr lang="en-US" sz="3400" dirty="0"/>
          </a:p>
        </p:txBody>
      </p:sp>
      <p:sp>
        <p:nvSpPr>
          <p:cNvPr id="3" name="road-0"/>
          <p:cNvSpPr/>
          <p:nvPr/>
        </p:nvSpPr>
        <p:spPr>
          <a:xfrm>
            <a:off x="548640" y="1417320"/>
            <a:ext cx="3429000" cy="3611880"/>
          </a:xfrm>
          <a:prstGeom prst="roundRect">
            <a:avLst>
              <a:gd name="adj" fmla="val 3200"/>
            </a:avLst>
          </a:prstGeom>
          <a:solidFill>
            <a:schemeClr val="bg2"/>
          </a:solidFill>
          <a:ln w="9525">
            <a:solidFill>
              <a:schemeClr val="bg2"/>
            </a:solidFill>
            <a:prstDash val="solid"/>
          </a:ln>
        </p:spPr>
      </p:sp>
      <p:sp>
        <p:nvSpPr>
          <p:cNvPr id="4" name="Text 2"/>
          <p:cNvSpPr txBox="1"/>
          <p:nvPr/>
        </p:nvSpPr>
        <p:spPr>
          <a:xfrm>
            <a:off x="822960" y="1600200"/>
            <a:ext cx="2926080" cy="320040"/>
          </a:xfrm>
          <a:prstGeom prst="rect">
            <a:avLst/>
          </a:prstGeom>
          <a:noFill/>
          <a:ln/>
        </p:spPr>
        <p:txBody>
          <a:bodyPr wrap="square" lIns="0" tIns="0" rIns="0" bIns="0" rtlCol="0" anchor="t"/>
          <a:lstStyle/>
          <a:p>
            <a:pPr indent="0" marL="0">
              <a:buNone/>
            </a:pPr>
            <a:r>
              <a:rPr lang="en-US" sz="1400" b="1" dirty="0">
                <a:solidFill>
                  <a:schemeClr val="accent1"/>
                </a:solidFill>
              </a:rPr>
              <a:t>Days 0-30</a:t>
            </a:r>
            <a:endParaRPr lang="en-US" sz="1400" dirty="0"/>
          </a:p>
        </p:txBody>
      </p:sp>
      <p:sp>
        <p:nvSpPr>
          <p:cNvPr id="5" name="Text 3"/>
          <p:cNvSpPr txBox="1"/>
          <p:nvPr/>
        </p:nvSpPr>
        <p:spPr>
          <a:xfrm>
            <a:off x="822960" y="1920240"/>
            <a:ext cx="2926080" cy="50292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See it</a:t>
            </a:r>
            <a:endParaRPr lang="en-US" sz="2400" dirty="0"/>
          </a:p>
        </p:txBody>
      </p:sp>
      <p:sp>
        <p:nvSpPr>
          <p:cNvPr id="6" name="Text 4"/>
          <p:cNvSpPr txBox="1"/>
          <p:nvPr/>
        </p:nvSpPr>
        <p:spPr>
          <a:xfrm>
            <a:off x="822960" y="2560320"/>
            <a:ext cx="2926080" cy="28346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Inventory agents, MCP servers, skills</a:t>
            </a:r>
            <a:endParaRPr lang="en-US" sz="1500" dirty="0"/>
          </a:p>
          <a:p>
            <a:pPr marL="177800" indent="-177800">
              <a:spcAft>
                <a:spcPts val="600"/>
              </a:spcAft>
              <a:buSzPct val="100000"/>
              <a:buChar char="•"/>
            </a:pPr>
            <a:r>
              <a:rPr lang="en-US" sz="1500" dirty="0">
                <a:solidFill>
                  <a:schemeClr val="tx1"/>
                </a:solidFill>
              </a:rPr>
              <a:t>Ban AI CLI bypass flags</a:t>
            </a:r>
            <a:endParaRPr lang="en-US" sz="1500" dirty="0"/>
          </a:p>
          <a:p>
            <a:pPr marL="177800" indent="-177800">
              <a:spcAft>
                <a:spcPts val="600"/>
              </a:spcAft>
              <a:buSzPct val="100000"/>
              <a:buChar char="•"/>
            </a:pPr>
            <a:r>
              <a:rPr lang="en-US" sz="1500" dirty="0">
                <a:solidFill>
                  <a:schemeClr val="tx1"/>
                </a:solidFill>
              </a:rPr>
              <a:t>Callback rule for payments</a:t>
            </a:r>
            <a:endParaRPr lang="en-US" sz="1500" dirty="0"/>
          </a:p>
          <a:p>
            <a:pPr marL="177800" indent="-177800">
              <a:spcAft>
                <a:spcPts val="600"/>
              </a:spcAft>
              <a:buSzPct val="100000"/>
              <a:buChar char="•"/>
            </a:pPr>
            <a:r>
              <a:rPr lang="en-US" sz="1500" dirty="0">
                <a:solidFill>
                  <a:schemeClr val="tx1"/>
                </a:solidFill>
              </a:rPr>
              <a:t>End voice-only resets</a:t>
            </a:r>
            <a:endParaRPr lang="en-US" sz="1500" dirty="0"/>
          </a:p>
          <a:p>
            <a:pPr marL="177800" indent="-177800">
              <a:spcAft>
                <a:spcPts val="600"/>
              </a:spcAft>
              <a:buSzPct val="100000"/>
              <a:buChar char="•"/>
            </a:pPr>
            <a:r>
              <a:rPr lang="en-US" sz="1500" dirty="0">
                <a:solidFill>
                  <a:schemeClr val="tx1"/>
                </a:solidFill>
              </a:rPr>
              <a:t>Rotate keys on AI hosts</a:t>
            </a:r>
            <a:endParaRPr lang="en-US" sz="1500" dirty="0"/>
          </a:p>
        </p:txBody>
      </p:sp>
      <p:sp>
        <p:nvSpPr>
          <p:cNvPr id="7" name="road-arrow-0"/>
          <p:cNvSpPr/>
          <p:nvPr/>
        </p:nvSpPr>
        <p:spPr>
          <a:xfrm>
            <a:off x="4023360" y="3291840"/>
            <a:ext cx="320040" cy="457200"/>
          </a:xfrm>
          <a:prstGeom prst="rightArrow">
            <a:avLst/>
          </a:prstGeom>
          <a:solidFill>
            <a:schemeClr val="accent5"/>
          </a:solidFill>
          <a:ln w="12700">
            <a:solidFill>
              <a:schemeClr val="accent5"/>
            </a:solidFill>
            <a:prstDash val="solid"/>
          </a:ln>
        </p:spPr>
      </p:sp>
      <p:sp>
        <p:nvSpPr>
          <p:cNvPr id="8" name="Text 6"/>
          <p:cNvSpPr txBox="1"/>
          <p:nvPr/>
        </p:nvSpPr>
        <p:spPr>
          <a:xfrm>
            <a:off x="822960" y="5212080"/>
            <a:ext cx="3291840" cy="365760"/>
          </a:xfrm>
          <a:prstGeom prst="rect">
            <a:avLst/>
          </a:prstGeom>
          <a:noFill/>
          <a:ln/>
        </p:spPr>
        <p:txBody>
          <a:bodyPr wrap="square" lIns="0" tIns="0" rIns="0" bIns="0" rtlCol="0" anchor="t"/>
          <a:lstStyle/>
          <a:p>
            <a:pPr indent="0" marL="0">
              <a:buNone/>
            </a:pPr>
            <a:r>
              <a:rPr lang="en-US" sz="1300" i="1" dirty="0">
                <a:solidFill>
                  <a:schemeClr val="accent4"/>
                </a:solidFill>
              </a:rPr>
              <a:t>Gate: inventory signed off</a:t>
            </a:r>
            <a:endParaRPr lang="en-US" sz="1300" dirty="0"/>
          </a:p>
        </p:txBody>
      </p:sp>
      <p:sp>
        <p:nvSpPr>
          <p:cNvPr id="9" name="road-1"/>
          <p:cNvSpPr/>
          <p:nvPr/>
        </p:nvSpPr>
        <p:spPr>
          <a:xfrm>
            <a:off x="4389120" y="1417320"/>
            <a:ext cx="3429000" cy="3611880"/>
          </a:xfrm>
          <a:prstGeom prst="roundRect">
            <a:avLst>
              <a:gd name="adj" fmla="val 3200"/>
            </a:avLst>
          </a:prstGeom>
          <a:solidFill>
            <a:schemeClr val="bg2"/>
          </a:solidFill>
          <a:ln w="9525">
            <a:solidFill>
              <a:schemeClr val="bg2"/>
            </a:solidFill>
            <a:prstDash val="solid"/>
          </a:ln>
        </p:spPr>
      </p:sp>
      <p:sp>
        <p:nvSpPr>
          <p:cNvPr id="10" name="Text 8"/>
          <p:cNvSpPr txBox="1"/>
          <p:nvPr/>
        </p:nvSpPr>
        <p:spPr>
          <a:xfrm>
            <a:off x="4663440" y="1600200"/>
            <a:ext cx="2926080" cy="320040"/>
          </a:xfrm>
          <a:prstGeom prst="rect">
            <a:avLst/>
          </a:prstGeom>
          <a:noFill/>
          <a:ln/>
        </p:spPr>
        <p:txBody>
          <a:bodyPr wrap="square" lIns="0" tIns="0" rIns="0" bIns="0" rtlCol="0" anchor="t"/>
          <a:lstStyle/>
          <a:p>
            <a:pPr indent="0" marL="0">
              <a:buNone/>
            </a:pPr>
            <a:r>
              <a:rPr lang="en-US" sz="1400" b="1" dirty="0">
                <a:solidFill>
                  <a:schemeClr val="accent3"/>
                </a:solidFill>
              </a:rPr>
              <a:t>Days 31-90</a:t>
            </a:r>
            <a:endParaRPr lang="en-US" sz="1400" dirty="0"/>
          </a:p>
        </p:txBody>
      </p:sp>
      <p:sp>
        <p:nvSpPr>
          <p:cNvPr id="11" name="Text 9"/>
          <p:cNvSpPr txBox="1"/>
          <p:nvPr/>
        </p:nvSpPr>
        <p:spPr>
          <a:xfrm>
            <a:off x="4663440" y="1920240"/>
            <a:ext cx="2926080" cy="50292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Contain it</a:t>
            </a:r>
            <a:endParaRPr lang="en-US" sz="2400" dirty="0"/>
          </a:p>
        </p:txBody>
      </p:sp>
      <p:sp>
        <p:nvSpPr>
          <p:cNvPr id="12" name="Text 10"/>
          <p:cNvSpPr txBox="1"/>
          <p:nvPr/>
        </p:nvSpPr>
        <p:spPr>
          <a:xfrm>
            <a:off x="4663440" y="2560320"/>
            <a:ext cx="2926080" cy="28346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Rule of Two for each agent</a:t>
            </a:r>
            <a:endParaRPr lang="en-US" sz="1500" dirty="0"/>
          </a:p>
          <a:p>
            <a:pPr marL="177800" indent="-177800">
              <a:spcAft>
                <a:spcPts val="600"/>
              </a:spcAft>
              <a:buSzPct val="100000"/>
              <a:buChar char="•"/>
            </a:pPr>
            <a:r>
              <a:rPr lang="en-US" sz="1500" dirty="0">
                <a:solidFill>
                  <a:schemeClr val="tx1"/>
                </a:solidFill>
              </a:rPr>
              <a:t>Allowlist model-API egress</a:t>
            </a:r>
            <a:endParaRPr lang="en-US" sz="1500" dirty="0"/>
          </a:p>
          <a:p>
            <a:pPr marL="177800" indent="-177800">
              <a:spcAft>
                <a:spcPts val="600"/>
              </a:spcAft>
              <a:buSzPct val="100000"/>
              <a:buChar char="•"/>
            </a:pPr>
            <a:r>
              <a:rPr lang="en-US" sz="1500" dirty="0">
                <a:solidFill>
                  <a:schemeClr val="tx1"/>
                </a:solidFill>
              </a:rPr>
              <a:t>Pin AI dependencies</a:t>
            </a:r>
            <a:endParaRPr lang="en-US" sz="1500" dirty="0"/>
          </a:p>
          <a:p>
            <a:pPr marL="177800" indent="-177800">
              <a:spcAft>
                <a:spcPts val="600"/>
              </a:spcAft>
              <a:buSzPct val="100000"/>
              <a:buChar char="•"/>
            </a:pPr>
            <a:r>
              <a:rPr lang="en-US" sz="1500" dirty="0">
                <a:solidFill>
                  <a:schemeClr val="tx1"/>
                </a:solidFill>
              </a:rPr>
              <a:t>Plant canary credentials</a:t>
            </a:r>
            <a:endParaRPr lang="en-US" sz="1500" dirty="0"/>
          </a:p>
          <a:p>
            <a:pPr marL="177800" indent="-177800">
              <a:spcAft>
                <a:spcPts val="600"/>
              </a:spcAft>
              <a:buSzPct val="100000"/>
              <a:buChar char="•"/>
            </a:pPr>
            <a:r>
              <a:rPr lang="en-US" sz="1500" dirty="0">
                <a:solidFill>
                  <a:schemeClr val="tx1"/>
                </a:solidFill>
              </a:rPr>
              <a:t>Auto-contain strong signals</a:t>
            </a:r>
            <a:endParaRPr lang="en-US" sz="1500" dirty="0"/>
          </a:p>
        </p:txBody>
      </p:sp>
      <p:sp>
        <p:nvSpPr>
          <p:cNvPr id="13" name="road-arrow-1"/>
          <p:cNvSpPr/>
          <p:nvPr/>
        </p:nvSpPr>
        <p:spPr>
          <a:xfrm>
            <a:off x="7863840" y="3291840"/>
            <a:ext cx="320040" cy="457200"/>
          </a:xfrm>
          <a:prstGeom prst="rightArrow">
            <a:avLst/>
          </a:prstGeom>
          <a:solidFill>
            <a:schemeClr val="accent5"/>
          </a:solidFill>
          <a:ln w="12700">
            <a:solidFill>
              <a:schemeClr val="accent5"/>
            </a:solidFill>
            <a:prstDash val="solid"/>
          </a:ln>
        </p:spPr>
      </p:sp>
      <p:sp>
        <p:nvSpPr>
          <p:cNvPr id="14" name="Text 12"/>
          <p:cNvSpPr txBox="1"/>
          <p:nvPr/>
        </p:nvSpPr>
        <p:spPr>
          <a:xfrm>
            <a:off x="4663440" y="5212080"/>
            <a:ext cx="3291840" cy="365760"/>
          </a:xfrm>
          <a:prstGeom prst="rect">
            <a:avLst/>
          </a:prstGeom>
          <a:noFill/>
          <a:ln/>
        </p:spPr>
        <p:txBody>
          <a:bodyPr wrap="square" lIns="0" tIns="0" rIns="0" bIns="0" rtlCol="0" anchor="t"/>
          <a:lstStyle/>
          <a:p>
            <a:pPr indent="0" marL="0">
              <a:buNone/>
            </a:pPr>
            <a:r>
              <a:rPr lang="en-US" sz="1300" i="1" dirty="0">
                <a:solidFill>
                  <a:schemeClr val="accent4"/>
                </a:solidFill>
              </a:rPr>
              <a:t>Gate: every agent has an owner</a:t>
            </a:r>
            <a:endParaRPr lang="en-US" sz="1300" dirty="0"/>
          </a:p>
        </p:txBody>
      </p:sp>
      <p:sp>
        <p:nvSpPr>
          <p:cNvPr id="15" name="road-2"/>
          <p:cNvSpPr/>
          <p:nvPr/>
        </p:nvSpPr>
        <p:spPr>
          <a:xfrm>
            <a:off x="8229600" y="1417320"/>
            <a:ext cx="3429000" cy="3611880"/>
          </a:xfrm>
          <a:prstGeom prst="roundRect">
            <a:avLst>
              <a:gd name="adj" fmla="val 3200"/>
            </a:avLst>
          </a:prstGeom>
          <a:solidFill>
            <a:schemeClr val="bg2"/>
          </a:solidFill>
          <a:ln w="9525">
            <a:solidFill>
              <a:schemeClr val="bg2"/>
            </a:solidFill>
            <a:prstDash val="solid"/>
          </a:ln>
        </p:spPr>
      </p:sp>
      <p:sp>
        <p:nvSpPr>
          <p:cNvPr id="16" name="Text 14"/>
          <p:cNvSpPr txBox="1"/>
          <p:nvPr/>
        </p:nvSpPr>
        <p:spPr>
          <a:xfrm>
            <a:off x="8503920" y="1600200"/>
            <a:ext cx="2926080" cy="320040"/>
          </a:xfrm>
          <a:prstGeom prst="rect">
            <a:avLst/>
          </a:prstGeom>
          <a:noFill/>
          <a:ln/>
        </p:spPr>
        <p:txBody>
          <a:bodyPr wrap="square" lIns="0" tIns="0" rIns="0" bIns="0" rtlCol="0" anchor="t"/>
          <a:lstStyle/>
          <a:p>
            <a:pPr indent="0" marL="0">
              <a:buNone/>
            </a:pPr>
            <a:r>
              <a:rPr lang="en-US" sz="1400" b="1" dirty="0">
                <a:solidFill>
                  <a:schemeClr val="accent2"/>
                </a:solidFill>
              </a:rPr>
              <a:t>Days 91-180</a:t>
            </a:r>
            <a:endParaRPr lang="en-US" sz="1400" dirty="0"/>
          </a:p>
        </p:txBody>
      </p:sp>
      <p:sp>
        <p:nvSpPr>
          <p:cNvPr id="17" name="Text 15"/>
          <p:cNvSpPr txBox="1"/>
          <p:nvPr/>
        </p:nvSpPr>
        <p:spPr>
          <a:xfrm>
            <a:off x="8503920" y="1920240"/>
            <a:ext cx="2926080" cy="50292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Outpace it</a:t>
            </a:r>
            <a:endParaRPr lang="en-US" sz="2400" dirty="0"/>
          </a:p>
        </p:txBody>
      </p:sp>
      <p:sp>
        <p:nvSpPr>
          <p:cNvPr id="18" name="Text 16"/>
          <p:cNvSpPr txBox="1"/>
          <p:nvPr/>
        </p:nvSpPr>
        <p:spPr>
          <a:xfrm>
            <a:off x="8503920" y="2560320"/>
            <a:ext cx="2926080" cy="28346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Short-lived credentials (OIDC)</a:t>
            </a:r>
            <a:endParaRPr lang="en-US" sz="1500" dirty="0"/>
          </a:p>
          <a:p>
            <a:pPr marL="177800" indent="-177800">
              <a:spcAft>
                <a:spcPts val="600"/>
              </a:spcAft>
              <a:buSzPct val="100000"/>
              <a:buChar char="•"/>
            </a:pPr>
            <a:r>
              <a:rPr lang="en-US" sz="1500" dirty="0">
                <a:solidFill>
                  <a:schemeClr val="tx1"/>
                </a:solidFill>
              </a:rPr>
              <a:t>Red-team internal agents</a:t>
            </a:r>
            <a:endParaRPr lang="en-US" sz="1500" dirty="0"/>
          </a:p>
          <a:p>
            <a:pPr marL="177800" indent="-177800">
              <a:spcAft>
                <a:spcPts val="600"/>
              </a:spcAft>
              <a:buSzPct val="100000"/>
              <a:buChar char="•"/>
            </a:pPr>
            <a:r>
              <a:rPr lang="en-US" sz="1500" dirty="0">
                <a:solidFill>
                  <a:schemeClr val="tx1"/>
                </a:solidFill>
              </a:rPr>
              <a:t>Back up models and vector stores</a:t>
            </a:r>
            <a:endParaRPr lang="en-US" sz="1500" dirty="0"/>
          </a:p>
          <a:p>
            <a:pPr marL="177800" indent="-177800">
              <a:spcAft>
                <a:spcPts val="600"/>
              </a:spcAft>
              <a:buSzPct val="100000"/>
              <a:buChar char="•"/>
            </a:pPr>
            <a:r>
              <a:rPr lang="en-US" sz="1500" dirty="0">
                <a:solidFill>
                  <a:schemeClr val="tx1"/>
                </a:solidFill>
              </a:rPr>
              <a:t>Risk-tiered patch SLAs live</a:t>
            </a:r>
            <a:endParaRPr lang="en-US" sz="1500" dirty="0"/>
          </a:p>
          <a:p>
            <a:pPr marL="177800" indent="-177800">
              <a:spcAft>
                <a:spcPts val="600"/>
              </a:spcAft>
              <a:buSzPct val="100000"/>
              <a:buChar char="•"/>
            </a:pPr>
            <a:r>
              <a:rPr lang="en-US" sz="1500" dirty="0">
                <a:solidFill>
                  <a:schemeClr val="tx1"/>
                </a:solidFill>
              </a:rPr>
              <a:t>Report the fix gap to the board</a:t>
            </a:r>
            <a:endParaRPr lang="en-US" sz="1500" dirty="0"/>
          </a:p>
        </p:txBody>
      </p:sp>
      <p:sp>
        <p:nvSpPr>
          <p:cNvPr id="19"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Phase one needs no new budget: it is inventory and policy</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Rules are moving slower than the threat</a:t>
            </a:r>
            <a:endParaRPr lang="en-US" sz="3400" dirty="0"/>
          </a:p>
        </p:txBody>
      </p:sp>
      <p:sp>
        <p:nvSpPr>
          <p:cNvPr id="3" name="timeline-axis"/>
          <p:cNvSpPr/>
          <p:nvPr/>
        </p:nvSpPr>
        <p:spPr>
          <a:xfrm>
            <a:off x="822960" y="1874520"/>
            <a:ext cx="10515600" cy="0"/>
          </a:xfrm>
          <a:prstGeom prst="line">
            <a:avLst/>
          </a:prstGeom>
          <a:noFill/>
          <a:ln w="25400">
            <a:solidFill>
              <a:schemeClr val="accent5"/>
            </a:solidFill>
            <a:prstDash val="solid"/>
          </a:ln>
        </p:spPr>
      </p:sp>
      <p:sp>
        <p:nvSpPr>
          <p:cNvPr id="4" name="tl-dot-0"/>
          <p:cNvSpPr/>
          <p:nvPr/>
        </p:nvSpPr>
        <p:spPr>
          <a:xfrm>
            <a:off x="685800" y="1719072"/>
            <a:ext cx="310896" cy="310896"/>
          </a:xfrm>
          <a:prstGeom prst="ellipse">
            <a:avLst/>
          </a:prstGeom>
          <a:solidFill>
            <a:schemeClr val="accent1"/>
          </a:solidFill>
          <a:ln w="12700">
            <a:solidFill>
              <a:schemeClr val="accent1"/>
            </a:solidFill>
            <a:prstDash val="solid"/>
          </a:ln>
        </p:spPr>
      </p:sp>
      <p:sp>
        <p:nvSpPr>
          <p:cNvPr id="5" name="Text 3"/>
          <p:cNvSpPr txBox="1"/>
          <p:nvPr/>
        </p:nvSpPr>
        <p:spPr>
          <a:xfrm>
            <a:off x="548640" y="1280160"/>
            <a:ext cx="2560320" cy="365760"/>
          </a:xfrm>
          <a:prstGeom prst="rect">
            <a:avLst/>
          </a:prstGeom>
          <a:noFill/>
          <a:ln/>
        </p:spPr>
        <p:txBody>
          <a:bodyPr wrap="square" lIns="0" tIns="0" rIns="0" bIns="0" rtlCol="0" anchor="t"/>
          <a:lstStyle/>
          <a:p>
            <a:pPr indent="0" marL="0">
              <a:buNone/>
            </a:pPr>
            <a:r>
              <a:rPr lang="en-US" sz="1500" b="1" dirty="0">
                <a:solidFill>
                  <a:schemeClr val="accent1"/>
                </a:solidFill>
              </a:rPr>
              <a:t>Oct 2025</a:t>
            </a:r>
            <a:endParaRPr lang="en-US" sz="1500" dirty="0"/>
          </a:p>
        </p:txBody>
      </p:sp>
      <p:sp>
        <p:nvSpPr>
          <p:cNvPr id="6" name="tl-card-0"/>
          <p:cNvSpPr/>
          <p:nvPr/>
        </p:nvSpPr>
        <p:spPr>
          <a:xfrm>
            <a:off x="548640" y="2286000"/>
            <a:ext cx="2606040" cy="2926080"/>
          </a:xfrm>
          <a:prstGeom prst="roundRect">
            <a:avLst>
              <a:gd name="adj" fmla="val 4211"/>
            </a:avLst>
          </a:prstGeom>
          <a:solidFill>
            <a:schemeClr val="bg2"/>
          </a:solidFill>
          <a:ln w="9525">
            <a:solidFill>
              <a:schemeClr val="bg2"/>
            </a:solidFill>
            <a:prstDash val="solid"/>
          </a:ln>
        </p:spPr>
      </p:sp>
      <p:sp>
        <p:nvSpPr>
          <p:cNvPr id="7" name="Text 5"/>
          <p:cNvSpPr txBox="1"/>
          <p:nvPr/>
        </p:nvSpPr>
        <p:spPr>
          <a:xfrm>
            <a:off x="731520" y="2468880"/>
            <a:ext cx="2240280" cy="1097280"/>
          </a:xfrm>
          <a:prstGeom prst="rect">
            <a:avLst/>
          </a:prstGeom>
          <a:noFill/>
          <a:ln/>
        </p:spPr>
        <p:txBody>
          <a:bodyPr wrap="square" lIns="0" tIns="0" rIns="0" bIns="0" rtlCol="0" anchor="t"/>
          <a:lstStyle/>
          <a:p>
            <a:pPr indent="0" marL="0">
              <a:buNone/>
            </a:pPr>
            <a:r>
              <a:rPr lang="en-US" sz="1600" b="1" dirty="0">
                <a:solidFill>
                  <a:schemeClr val="tx1"/>
                </a:solidFill>
              </a:rPr>
              <a:t>MITRE ATLAS adds agent techniques</a:t>
            </a:r>
            <a:endParaRPr lang="en-US" sz="1600" dirty="0"/>
          </a:p>
        </p:txBody>
      </p:sp>
      <p:sp>
        <p:nvSpPr>
          <p:cNvPr id="8" name="Text 6"/>
          <p:cNvSpPr txBox="1"/>
          <p:nvPr/>
        </p:nvSpPr>
        <p:spPr>
          <a:xfrm>
            <a:off x="731520" y="3566160"/>
            <a:ext cx="2240280" cy="1554480"/>
          </a:xfrm>
          <a:prstGeom prst="rect">
            <a:avLst/>
          </a:prstGeom>
          <a:noFill/>
          <a:ln/>
        </p:spPr>
        <p:txBody>
          <a:bodyPr wrap="square" lIns="0" tIns="0" rIns="0" bIns="0" rtlCol="0" anchor="t"/>
          <a:lstStyle/>
          <a:p>
            <a:pPr indent="0" marL="0">
              <a:buNone/>
            </a:pPr>
            <a:r>
              <a:rPr lang="en-US" sz="1400" dirty="0">
                <a:solidFill>
                  <a:schemeClr val="tx1"/>
                </a:solidFill>
              </a:rPr>
              <a:t>Context poisoning (AML.T0080), exfiltration via agent tools (AML.T0086)</a:t>
            </a:r>
            <a:endParaRPr lang="en-US" sz="1400" dirty="0"/>
          </a:p>
        </p:txBody>
      </p:sp>
      <p:sp>
        <p:nvSpPr>
          <p:cNvPr id="9" name="tl-dot-1"/>
          <p:cNvSpPr/>
          <p:nvPr/>
        </p:nvSpPr>
        <p:spPr>
          <a:xfrm>
            <a:off x="3520440" y="1719072"/>
            <a:ext cx="310896" cy="310896"/>
          </a:xfrm>
          <a:prstGeom prst="ellipse">
            <a:avLst/>
          </a:prstGeom>
          <a:solidFill>
            <a:schemeClr val="accent1"/>
          </a:solidFill>
          <a:ln w="12700">
            <a:solidFill>
              <a:schemeClr val="accent1"/>
            </a:solidFill>
            <a:prstDash val="solid"/>
          </a:ln>
        </p:spPr>
      </p:sp>
      <p:sp>
        <p:nvSpPr>
          <p:cNvPr id="10" name="Text 8"/>
          <p:cNvSpPr txBox="1"/>
          <p:nvPr/>
        </p:nvSpPr>
        <p:spPr>
          <a:xfrm>
            <a:off x="3383280" y="1280160"/>
            <a:ext cx="2560320" cy="365760"/>
          </a:xfrm>
          <a:prstGeom prst="rect">
            <a:avLst/>
          </a:prstGeom>
          <a:noFill/>
          <a:ln/>
        </p:spPr>
        <p:txBody>
          <a:bodyPr wrap="square" lIns="0" tIns="0" rIns="0" bIns="0" rtlCol="0" anchor="t"/>
          <a:lstStyle/>
          <a:p>
            <a:pPr indent="0" marL="0">
              <a:buNone/>
            </a:pPr>
            <a:r>
              <a:rPr lang="en-US" sz="1500" b="1" dirty="0">
                <a:solidFill>
                  <a:schemeClr val="accent1"/>
                </a:solidFill>
              </a:rPr>
              <a:t>Dec 2025</a:t>
            </a:r>
            <a:endParaRPr lang="en-US" sz="1500" dirty="0"/>
          </a:p>
        </p:txBody>
      </p:sp>
      <p:sp>
        <p:nvSpPr>
          <p:cNvPr id="11" name="tl-card-1"/>
          <p:cNvSpPr/>
          <p:nvPr/>
        </p:nvSpPr>
        <p:spPr>
          <a:xfrm>
            <a:off x="3383280" y="2286000"/>
            <a:ext cx="2606040" cy="2926080"/>
          </a:xfrm>
          <a:prstGeom prst="roundRect">
            <a:avLst>
              <a:gd name="adj" fmla="val 4211"/>
            </a:avLst>
          </a:prstGeom>
          <a:solidFill>
            <a:schemeClr val="bg2"/>
          </a:solidFill>
          <a:ln w="9525">
            <a:solidFill>
              <a:schemeClr val="bg2"/>
            </a:solidFill>
            <a:prstDash val="solid"/>
          </a:ln>
        </p:spPr>
      </p:sp>
      <p:sp>
        <p:nvSpPr>
          <p:cNvPr id="12" name="Text 10"/>
          <p:cNvSpPr txBox="1"/>
          <p:nvPr/>
        </p:nvSpPr>
        <p:spPr>
          <a:xfrm>
            <a:off x="3566160" y="2468880"/>
            <a:ext cx="2240280" cy="1097280"/>
          </a:xfrm>
          <a:prstGeom prst="rect">
            <a:avLst/>
          </a:prstGeom>
          <a:noFill/>
          <a:ln/>
        </p:spPr>
        <p:txBody>
          <a:bodyPr wrap="square" lIns="0" tIns="0" rIns="0" bIns="0" rtlCol="0" anchor="t"/>
          <a:lstStyle/>
          <a:p>
            <a:pPr indent="0" marL="0">
              <a:buNone/>
            </a:pPr>
            <a:r>
              <a:rPr lang="en-US" sz="1600" b="1" dirty="0">
                <a:solidFill>
                  <a:schemeClr val="tx1"/>
                </a:solidFill>
              </a:rPr>
              <a:t>OWASP Agentic Top 10; NIST Cyber AI Profile draft</a:t>
            </a:r>
            <a:endParaRPr lang="en-US" sz="1600" dirty="0"/>
          </a:p>
        </p:txBody>
      </p:sp>
      <p:sp>
        <p:nvSpPr>
          <p:cNvPr id="13" name="Text 11"/>
          <p:cNvSpPr txBox="1"/>
          <p:nvPr/>
        </p:nvSpPr>
        <p:spPr>
          <a:xfrm>
            <a:off x="3566160" y="3566160"/>
            <a:ext cx="2240280" cy="1554480"/>
          </a:xfrm>
          <a:prstGeom prst="rect">
            <a:avLst/>
          </a:prstGeom>
          <a:noFill/>
          <a:ln/>
        </p:spPr>
        <p:txBody>
          <a:bodyPr wrap="square" lIns="0" tIns="0" rIns="0" bIns="0" rtlCol="0" anchor="t"/>
          <a:lstStyle/>
          <a:p>
            <a:pPr indent="0" marL="0">
              <a:buNone/>
            </a:pPr>
            <a:r>
              <a:rPr lang="en-US" sz="1400" dirty="0">
                <a:solidFill>
                  <a:schemeClr val="tx1"/>
                </a:solidFill>
              </a:rPr>
              <a:t>ASI01 agent goal hijack; IR 8596 public draft still pending</a:t>
            </a:r>
            <a:endParaRPr lang="en-US" sz="1400" dirty="0"/>
          </a:p>
        </p:txBody>
      </p:sp>
      <p:sp>
        <p:nvSpPr>
          <p:cNvPr id="14" name="tl-dot-2"/>
          <p:cNvSpPr/>
          <p:nvPr/>
        </p:nvSpPr>
        <p:spPr>
          <a:xfrm>
            <a:off x="6355080" y="1719072"/>
            <a:ext cx="310896" cy="310896"/>
          </a:xfrm>
          <a:prstGeom prst="ellipse">
            <a:avLst/>
          </a:prstGeom>
          <a:solidFill>
            <a:schemeClr val="accent1"/>
          </a:solidFill>
          <a:ln w="12700">
            <a:solidFill>
              <a:schemeClr val="accent1"/>
            </a:solidFill>
            <a:prstDash val="solid"/>
          </a:ln>
        </p:spPr>
      </p:sp>
      <p:sp>
        <p:nvSpPr>
          <p:cNvPr id="15" name="Text 13"/>
          <p:cNvSpPr txBox="1"/>
          <p:nvPr/>
        </p:nvSpPr>
        <p:spPr>
          <a:xfrm>
            <a:off x="6217920" y="1280160"/>
            <a:ext cx="2560320" cy="365760"/>
          </a:xfrm>
          <a:prstGeom prst="rect">
            <a:avLst/>
          </a:prstGeom>
          <a:noFill/>
          <a:ln/>
        </p:spPr>
        <p:txBody>
          <a:bodyPr wrap="square" lIns="0" tIns="0" rIns="0" bIns="0" rtlCol="0" anchor="t"/>
          <a:lstStyle/>
          <a:p>
            <a:pPr indent="0" marL="0">
              <a:buNone/>
            </a:pPr>
            <a:r>
              <a:rPr lang="en-US" sz="1500" b="1" dirty="0">
                <a:solidFill>
                  <a:schemeClr val="accent1"/>
                </a:solidFill>
              </a:rPr>
              <a:t>Jun 2026</a:t>
            </a:r>
            <a:endParaRPr lang="en-US" sz="1500" dirty="0"/>
          </a:p>
        </p:txBody>
      </p:sp>
      <p:sp>
        <p:nvSpPr>
          <p:cNvPr id="16" name="tl-card-2"/>
          <p:cNvSpPr/>
          <p:nvPr/>
        </p:nvSpPr>
        <p:spPr>
          <a:xfrm>
            <a:off x="6217920" y="2286000"/>
            <a:ext cx="2606040" cy="2926080"/>
          </a:xfrm>
          <a:prstGeom prst="roundRect">
            <a:avLst>
              <a:gd name="adj" fmla="val 4211"/>
            </a:avLst>
          </a:prstGeom>
          <a:solidFill>
            <a:schemeClr val="bg2"/>
          </a:solidFill>
          <a:ln w="9525">
            <a:solidFill>
              <a:schemeClr val="bg2"/>
            </a:solidFill>
            <a:prstDash val="solid"/>
          </a:ln>
        </p:spPr>
      </p:sp>
      <p:sp>
        <p:nvSpPr>
          <p:cNvPr id="17" name="Text 15"/>
          <p:cNvSpPr txBox="1"/>
          <p:nvPr/>
        </p:nvSpPr>
        <p:spPr>
          <a:xfrm>
            <a:off x="6400800" y="2468880"/>
            <a:ext cx="2240280" cy="1097280"/>
          </a:xfrm>
          <a:prstGeom prst="rect">
            <a:avLst/>
          </a:prstGeom>
          <a:noFill/>
          <a:ln/>
        </p:spPr>
        <p:txBody>
          <a:bodyPr wrap="square" lIns="0" tIns="0" rIns="0" bIns="0" rtlCol="0" anchor="t"/>
          <a:lstStyle/>
          <a:p>
            <a:pPr indent="0" marL="0">
              <a:buNone/>
            </a:pPr>
            <a:r>
              <a:rPr lang="en-US" sz="1600" b="1" dirty="0">
                <a:solidFill>
                  <a:schemeClr val="tx1"/>
                </a:solidFill>
              </a:rPr>
              <a:t>EO 14409 and CISA BOD 26-04</a:t>
            </a:r>
            <a:endParaRPr lang="en-US" sz="1600" dirty="0"/>
          </a:p>
        </p:txBody>
      </p:sp>
      <p:sp>
        <p:nvSpPr>
          <p:cNvPr id="18" name="Text 16"/>
          <p:cNvSpPr txBox="1"/>
          <p:nvPr/>
        </p:nvSpPr>
        <p:spPr>
          <a:xfrm>
            <a:off x="6400800" y="3566160"/>
            <a:ext cx="2240280" cy="1554480"/>
          </a:xfrm>
          <a:prstGeom prst="rect">
            <a:avLst/>
          </a:prstGeom>
          <a:noFill/>
          <a:ln/>
        </p:spPr>
        <p:txBody>
          <a:bodyPr wrap="square" lIns="0" tIns="0" rIns="0" bIns="0" rtlCol="0" anchor="t"/>
          <a:lstStyle/>
          <a:p>
            <a:pPr indent="0" marL="0">
              <a:buNone/>
            </a:pPr>
            <a:r>
              <a:rPr lang="en-US" sz="1400" dirty="0">
                <a:solidFill>
                  <a:schemeClr val="tx1"/>
                </a:solidFill>
              </a:rPr>
              <a:t>Frontier-model clearinghouse; three-day tier for the riskiest flaws</a:t>
            </a:r>
            <a:endParaRPr lang="en-US" sz="1400" dirty="0"/>
          </a:p>
        </p:txBody>
      </p:sp>
      <p:sp>
        <p:nvSpPr>
          <p:cNvPr id="19" name="tl-dot-3"/>
          <p:cNvSpPr/>
          <p:nvPr/>
        </p:nvSpPr>
        <p:spPr>
          <a:xfrm>
            <a:off x="9189720" y="1719072"/>
            <a:ext cx="310896" cy="310896"/>
          </a:xfrm>
          <a:prstGeom prst="ellipse">
            <a:avLst/>
          </a:prstGeom>
          <a:solidFill>
            <a:schemeClr val="accent1"/>
          </a:solidFill>
          <a:ln w="12700">
            <a:solidFill>
              <a:schemeClr val="accent1"/>
            </a:solidFill>
            <a:prstDash val="solid"/>
          </a:ln>
        </p:spPr>
      </p:sp>
      <p:sp>
        <p:nvSpPr>
          <p:cNvPr id="20" name="Text 18"/>
          <p:cNvSpPr txBox="1"/>
          <p:nvPr/>
        </p:nvSpPr>
        <p:spPr>
          <a:xfrm>
            <a:off x="9052560" y="1280160"/>
            <a:ext cx="2560320" cy="365760"/>
          </a:xfrm>
          <a:prstGeom prst="rect">
            <a:avLst/>
          </a:prstGeom>
          <a:noFill/>
          <a:ln/>
        </p:spPr>
        <p:txBody>
          <a:bodyPr wrap="square" lIns="0" tIns="0" rIns="0" bIns="0" rtlCol="0" anchor="t"/>
          <a:lstStyle/>
          <a:p>
            <a:pPr indent="0" marL="0">
              <a:buNone/>
            </a:pPr>
            <a:r>
              <a:rPr lang="en-US" sz="1500" b="1" dirty="0">
                <a:solidFill>
                  <a:schemeClr val="accent1"/>
                </a:solidFill>
              </a:rPr>
              <a:t>Jul 2026</a:t>
            </a:r>
            <a:endParaRPr lang="en-US" sz="1500" dirty="0"/>
          </a:p>
        </p:txBody>
      </p:sp>
      <p:sp>
        <p:nvSpPr>
          <p:cNvPr id="21" name="tl-card-3"/>
          <p:cNvSpPr/>
          <p:nvPr/>
        </p:nvSpPr>
        <p:spPr>
          <a:xfrm>
            <a:off x="9052560" y="2286000"/>
            <a:ext cx="2606040" cy="2926080"/>
          </a:xfrm>
          <a:prstGeom prst="roundRect">
            <a:avLst>
              <a:gd name="adj" fmla="val 4211"/>
            </a:avLst>
          </a:prstGeom>
          <a:solidFill>
            <a:schemeClr val="bg2"/>
          </a:solidFill>
          <a:ln w="9525">
            <a:solidFill>
              <a:schemeClr val="bg2"/>
            </a:solidFill>
            <a:prstDash val="solid"/>
          </a:ln>
        </p:spPr>
      </p:sp>
      <p:sp>
        <p:nvSpPr>
          <p:cNvPr id="22" name="Text 20"/>
          <p:cNvSpPr txBox="1"/>
          <p:nvPr/>
        </p:nvSpPr>
        <p:spPr>
          <a:xfrm>
            <a:off x="9235440" y="2468880"/>
            <a:ext cx="2240280" cy="1097280"/>
          </a:xfrm>
          <a:prstGeom prst="rect">
            <a:avLst/>
          </a:prstGeom>
          <a:noFill/>
          <a:ln/>
        </p:spPr>
        <p:txBody>
          <a:bodyPr wrap="square" lIns="0" tIns="0" rIns="0" bIns="0" rtlCol="0" anchor="t"/>
          <a:lstStyle/>
          <a:p>
            <a:pPr indent="0" marL="0">
              <a:buNone/>
            </a:pPr>
            <a:r>
              <a:rPr lang="en-US" sz="1600" b="1" dirty="0">
                <a:solidFill>
                  <a:schemeClr val="tx1"/>
                </a:solidFill>
              </a:rPr>
              <a:t>EU Digital Omnibus in force</a:t>
            </a:r>
            <a:endParaRPr lang="en-US" sz="1600" dirty="0"/>
          </a:p>
        </p:txBody>
      </p:sp>
      <p:sp>
        <p:nvSpPr>
          <p:cNvPr id="23" name="Text 21"/>
          <p:cNvSpPr txBox="1"/>
          <p:nvPr/>
        </p:nvSpPr>
        <p:spPr>
          <a:xfrm>
            <a:off x="9235440" y="3566160"/>
            <a:ext cx="2240280" cy="1554480"/>
          </a:xfrm>
          <a:prstGeom prst="rect">
            <a:avLst/>
          </a:prstGeom>
          <a:noFill/>
          <a:ln/>
        </p:spPr>
        <p:txBody>
          <a:bodyPr wrap="square" lIns="0" tIns="0" rIns="0" bIns="0" rtlCol="0" anchor="t"/>
          <a:lstStyle/>
          <a:p>
            <a:pPr indent="0" marL="0">
              <a:buNone/>
            </a:pPr>
            <a:r>
              <a:rPr lang="en-US" sz="1400" dirty="0">
                <a:solidFill>
                  <a:schemeClr val="tx1"/>
                </a:solidFill>
              </a:rPr>
              <a:t>AI Act high-risk duties deferred to 2 Dec 2027 and 2 Aug 2028</a:t>
            </a:r>
            <a:endParaRPr lang="en-US" sz="1400" dirty="0"/>
          </a:p>
        </p:txBody>
      </p:sp>
      <p:sp>
        <p:nvSpPr>
          <p:cNvPr id="24" name="Text 22"/>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600" dirty="0">
                <a:solidFill>
                  <a:schemeClr val="tx1"/>
                </a:solidFill>
              </a:rPr>
              <a:t>The EU deferred; the US leaned on binding federal patch rules and voluntary frontier-model coordination.</a:t>
            </a:r>
            <a:endParaRPr lang="en-US" sz="1600" dirty="0"/>
          </a:p>
        </p:txBody>
      </p:sp>
      <p:sp>
        <p:nvSpPr>
          <p:cNvPr id="25" name="Text 0"/>
          <p:cNvSpPr/>
          <p:nvPr>
            <p:ph idx="101" type="body" hasCustomPrompt="1"/>
          </p:nvPr>
        </p:nvSpPr>
        <p:spPr>
          <a:xfrm>
            <a:off x="548640" y="6291072"/>
            <a:ext cx="10241280" cy="320040"/>
          </a:xfrm>
          <a:prstGeom prst="rect">
            <a:avLst/>
          </a:prstGeom>
          <a:noFill/>
          <a:ln/>
        </p:spPr>
        <p:txBody>
          <a:bodyPr wrap="square" lIns="0" tIns="0" rIns="0" bIns="0" rtlCol="0" anchor="ctr"/>
          <a:lstStyle/>
          <a:p>
            <a:pPr indent="0" marL="0">
              <a:buNone/>
            </a:pPr>
            <a:r>
              <a:rPr lang="en-US" sz="1000" dirty="0">
                <a:solidFill>
                  <a:schemeClr val="accent4"/>
                </a:solidFill>
              </a:rPr>
              <a:t>MITRE ATLAS; OWASP; NIST CSRC; White House; CISA; European Commission AI Act page (Aug 2026)</a:t>
            </a:r>
            <a:endParaRPr lang="en-US" sz="1000" dirty="0"/>
          </a:p>
        </p:txBody>
      </p:sp>
      <p:sp>
        <p:nvSpPr>
          <p:cNvPr id="25" name="Slide Number Placeholder 0"/>
          <p:cNvSpPr>
            <a:spLocks noGrp="1"/>
          </p:cNvSpPr>
          <p:nvPr>
            <p:ph type="sldNum" sz="quarter" idx="4294967295"/>
          </p:nvPr>
        </p:nvSpPr>
        <p:spPr>
          <a:xfrm>
            <a:off x="11155680" y="6291072"/>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lIns="0" tIns="0" rIns="0" bIns="0" rtlCol="0" anchor="ctr"/>
          <a:lstStyle/>
          <a:p>
            <a:pPr algn="l" indent="0" marL="0">
              <a:buNone/>
            </a:pPr>
            <a:r>
              <a:rPr lang="en-US" sz="3600" b="1" dirty="0">
                <a:solidFill>
                  <a:schemeClr val="bg1"/>
                </a:solidFill>
              </a:rPr>
              <a:t>Questions to take back</a:t>
            </a:r>
            <a:endParaRPr lang="en-US" sz="3600" dirty="0"/>
          </a:p>
        </p:txBody>
      </p:sp>
      <p:sp>
        <p:nvSpPr>
          <p:cNvPr id="3" name="Text 1"/>
          <p:cNvSpPr txBox="1"/>
          <p:nvPr/>
        </p:nvSpPr>
        <p:spPr>
          <a:xfrm>
            <a:off x="731520" y="1645920"/>
            <a:ext cx="10698480" cy="356616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2000" dirty="0">
                <a:solidFill>
                  <a:schemeClr val="bg1"/>
                </a:solidFill>
              </a:rPr>
              <a:t>Which business process would still accept a voice or video call as proof of identity?</a:t>
            </a:r>
            <a:endParaRPr lang="en-US" sz="2000" dirty="0"/>
          </a:p>
          <a:p>
            <a:pPr marL="342900" indent="-342900">
              <a:spcAft>
                <a:spcPts val="1400"/>
              </a:spcAft>
              <a:buSzPct val="100000"/>
              <a:buFont typeface="+mj-lt"/>
              <a:buAutoNum type="arabicPeriod" startAt="1"/>
            </a:pPr>
            <a:r>
              <a:rPr lang="en-US" sz="2000" dirty="0">
                <a:solidFill>
                  <a:schemeClr val="bg1"/>
                </a:solidFill>
              </a:rPr>
              <a:t>For each AI agent you run, which two of private data, untrusted input and outbound communication does it hold?</a:t>
            </a:r>
            <a:endParaRPr lang="en-US" sz="2000" dirty="0"/>
          </a:p>
          <a:p>
            <a:pPr marL="342900" indent="-342900">
              <a:spcAft>
                <a:spcPts val="1400"/>
              </a:spcAft>
              <a:buSzPct val="100000"/>
              <a:buFont typeface="+mj-lt"/>
              <a:buAutoNum type="arabicPeriod" startAt="1"/>
            </a:pPr>
            <a:r>
              <a:rPr lang="en-US" sz="2000" dirty="0">
                <a:solidFill>
                  <a:schemeClr val="bg1"/>
                </a:solidFill>
              </a:rPr>
              <a:t>If AI found 500 high-severity flaws in your code next month, who would triage them, and how fast?</a:t>
            </a:r>
            <a:endParaRPr lang="en-US" sz="2000" dirty="0"/>
          </a:p>
          <a:p>
            <a:pPr marL="342900" indent="-342900">
              <a:spcAft>
                <a:spcPts val="1400"/>
              </a:spcAft>
              <a:buSzPct val="100000"/>
              <a:buFont typeface="+mj-lt"/>
              <a:buAutoNum type="arabicPeriod" startAt="1"/>
            </a:pPr>
            <a:r>
              <a:rPr lang="en-US" sz="2000" dirty="0">
                <a:solidFill>
                  <a:schemeClr val="bg1"/>
                </a:solidFill>
              </a:rPr>
              <a:t>For which signals will your SOC contain a host without waiting for a person?</a:t>
            </a:r>
            <a:endParaRPr lang="en-US" sz="2000" dirty="0"/>
          </a:p>
        </p:txBody>
      </p:sp>
      <p:sp>
        <p:nvSpPr>
          <p:cNvPr id="4" name="Text 2">
            <a:hlinkClick r:id="rId1" tooltip=""/>
          </p:cNvPr>
          <p:cNvSpPr txBox="1"/>
          <p:nvPr/>
        </p:nvSpPr>
        <p:spPr>
          <a:xfrm>
            <a:off x="731520" y="5440680"/>
            <a:ext cx="10698480" cy="457200"/>
          </a:xfrm>
          <a:prstGeom prst="rect">
            <a:avLst/>
          </a:prstGeom>
          <a:noFill/>
          <a:ln/>
        </p:spPr>
        <p:txBody>
          <a:bodyPr wrap="square" lIns="0" tIns="0" rIns="0" bIns="0" rtlCol="0" anchor="t"/>
          <a:lstStyle/>
          <a:p>
            <a:pPr indent="0" marL="0">
              <a:buNone/>
            </a:pPr>
            <a:r>
              <a:rPr lang="en-US" sz="1500" u="sng" dirty="0">
                <a:solidFill>
                  <a:schemeClr val="accent5"/>
                </a:solidFill>
                <a:hlinkClick r:id="rId1" invalidUrl="" action="" tgtFrame="" tooltip="" history="1" highlightClick="0" endSnd="0">
                  <a:extLst>
                    <a:ext uri="{A12FA001-AC4F-418D-AE19-62706E023703}">
                      <ahyp:hlinkClr xmlns:ahyp="http://schemas.microsoft.com/office/drawing/2018/hyperlinkcolor" val="tx"/>
                    </a:ext>
                  </a:extLst>
                </a:hlinkClick>
              </a:rPr>
              <a:t>Full study, sources and PDF: teamstarwolf.github.io/TeamStarWolf/#/case-studies/AI_THREATS_2026</a:t>
            </a:r>
            <a:endParaRPr lang="en-US" sz="1500" dirty="0"/>
          </a:p>
        </p:txBody>
      </p:sp>
      <p:sp>
        <p:nvSpPr>
          <p:cNvPr id="25" name="Slide Number Placeholder 0"/>
          <p:cNvSpPr>
            <a:spLocks noGrp="1"/>
          </p:cNvSpPr>
          <p:nvPr>
            <p:ph type="sldNum" sz="quarter" idx="4294967295"/>
          </p:nvPr>
        </p:nvSpPr>
        <p:spPr>
          <a:xfrm>
            <a:off x="1124712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TeamStarWolf Threat Briefing">
  <a:themeElements>
    <a:clrScheme name="TeamStarWolf Threat Briefing">
      <a:dk1>
        <a:srgbClr val="141C28"/>
      </a:dk1>
      <a:lt1>
        <a:srgbClr val="FFFFFF"/>
      </a:lt1>
      <a:dk2>
        <a:srgbClr val="16243A"/>
      </a:dk2>
      <a:lt2>
        <a:srgbClr val="EDF1F6"/>
      </a:lt2>
      <a:accent1>
        <a:srgbClr val="E4572E"/>
      </a:accent1>
      <a:accent2>
        <a:srgbClr val="168F87"/>
      </a:accent2>
      <a:accent3>
        <a:srgbClr val="D9932B"/>
      </a:accent3>
      <a:accent4>
        <a:srgbClr val="56657F"/>
      </a:accent4>
      <a:accent5>
        <a:srgbClr val="A9B6C9"/>
      </a:accent5>
      <a:accent6>
        <a:srgbClr val="8C2F39"/>
      </a:accent6>
      <a:hlink>
        <a:srgbClr val="1C6CB0"/>
      </a:hlink>
      <a:folHlink>
        <a:srgbClr val="6B4FA0"/>
      </a:folHlink>
    </a:clrScheme>
    <a:fontScheme name="TeamStarWolf Threat Brief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TeamStarWolf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Threats in the Cybersecurity Industry: A 2026 Case Study</dc:title>
  <dc:subject>Six AI threat classes, graded by evidence</dc:subject>
  <dc:creator>TeamStarWolf</dc:creator>
  <cp:lastModifiedBy>TeamStarWolf</cp:lastModifiedBy>
  <cp:revision>1</cp:revision>
  <dcterms:created xsi:type="dcterms:W3CDTF">2026-10-08T04:52:52Z</dcterms:created>
  <dcterms:modified xsi:type="dcterms:W3CDTF">2026-10-08T04:52:52Z</dcterms:modified>
</cp:coreProperties>
</file>